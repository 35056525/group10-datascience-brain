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4"/>
  </p:notesMasterIdLst>
  <p:sldIdLst>
    <p:sldId id="256" r:id="rId2"/>
    <p:sldId id="257" r:id="rId3"/>
    <p:sldId id="258" r:id="rId4"/>
    <p:sldId id="259" r:id="rId5"/>
    <p:sldId id="261" r:id="rId6"/>
    <p:sldId id="262" r:id="rId7"/>
    <p:sldId id="263" r:id="rId8"/>
    <p:sldId id="264" r:id="rId9"/>
    <p:sldId id="265" r:id="rId10"/>
    <p:sldId id="266" r:id="rId11"/>
    <p:sldId id="267" r:id="rId12"/>
    <p:sldId id="260" r:id="rId13"/>
    <p:sldId id="268" r:id="rId14"/>
    <p:sldId id="269" r:id="rId15"/>
    <p:sldId id="270" r:id="rId16"/>
    <p:sldId id="276" r:id="rId17"/>
    <p:sldId id="271" r:id="rId18"/>
    <p:sldId id="272" r:id="rId19"/>
    <p:sldId id="277" r:id="rId20"/>
    <p:sldId id="273" r:id="rId21"/>
    <p:sldId id="274" r:id="rId22"/>
    <p:sldId id="27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432253-F155-4495-A0E2-B39D8FC589A5}" type="datetimeFigureOut">
              <a:rPr lang="en-IN" smtClean="0"/>
              <a:t>22-04-2026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1CEDBC-3B3C-43AB-B869-14355A49FEFE}" type="slidenum">
              <a:rPr lang="en-IN" smtClean="0"/>
              <a:t>‹#›</a:t>
            </a:fld>
            <a:endParaRPr lang="en-IN" dirty="0"/>
          </a:p>
        </p:txBody>
      </p:sp>
    </p:spTree>
    <p:extLst>
      <p:ext uri="{BB962C8B-B14F-4D97-AF65-F5344CB8AC3E}">
        <p14:creationId xmlns:p14="http://schemas.microsoft.com/office/powerpoint/2010/main" val="1425674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presents an explainable deep learning framework for brain tumor classification using MRI images. The system takes MRI scans as input and processes them through a trained deep learning model to classify tumor types such as glioma, meningioma, pituitary tumor, or no tumor. Grad-CAM provides visual explanations highlighting important regions, improving interpretability. This approach enhances diagnostic accuracy, builds trust in AI systems, and supports clinicians in making faster, more reliable medical decisions.</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a:t>
            </a:fld>
            <a:endParaRPr lang="en-IN" dirty="0"/>
          </a:p>
        </p:txBody>
      </p:sp>
    </p:spTree>
    <p:extLst>
      <p:ext uri="{BB962C8B-B14F-4D97-AF65-F5344CB8AC3E}">
        <p14:creationId xmlns:p14="http://schemas.microsoft.com/office/powerpoint/2010/main" val="2974664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presents the members of Group 10 and their respective roles in the project. Balu Krishna Gade serves as Project Lead and GitHub Coordinator, while Molla Ganja Shaida is the Data Engineer. Vijayagayathri Guntupalli handles model development and evaluation, Venkat Naga Suresh Kumar leads XAI and presentation, and Mounika Chinta manages documentation. The team collaboratively developed the project, with their GitHub repository providing complete code and progress from weeks 1 to 12.</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2</a:t>
            </a:fld>
            <a:endParaRPr lang="en-IN" dirty="0"/>
          </a:p>
        </p:txBody>
      </p:sp>
    </p:spTree>
    <p:extLst>
      <p:ext uri="{BB962C8B-B14F-4D97-AF65-F5344CB8AC3E}">
        <p14:creationId xmlns:p14="http://schemas.microsoft.com/office/powerpoint/2010/main" val="3418759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highlights the importance of early and accurate brain tumor detection for effective treatment. Although MRI is widely used, its interpretation is complex and time-consuming, relying heavily on expert knowledge. Radiologists often face high workload and fatigue, increasing the risk of diagnostic errors. These challenges emphasize the need for reliable AI support. Building trust through transparency and explainability is essential to ensure medical AI systems are accepted and effectively used in clinical practice.</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3</a:t>
            </a:fld>
            <a:endParaRPr lang="en-IN" dirty="0"/>
          </a:p>
        </p:txBody>
      </p:sp>
    </p:spTree>
    <p:extLst>
      <p:ext uri="{BB962C8B-B14F-4D97-AF65-F5344CB8AC3E}">
        <p14:creationId xmlns:p14="http://schemas.microsoft.com/office/powerpoint/2010/main" val="1613483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outlines the gap and objective of the project. Many deep learning models function as black-box systems, limiting transparency and trust in clinical settings. The lack of explainability prevents clinicians from verifying AI predictions, reducing real-world adoption. To address this, the objective is to develop an accurate and explainable classification model. Grad-CAM is used to provide visual explanations, helping clinicians understand model decisions, improving trust, and enabling better, more reliable clinical decision-making.</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4</a:t>
            </a:fld>
            <a:endParaRPr lang="en-IN" dirty="0"/>
          </a:p>
        </p:txBody>
      </p:sp>
    </p:spTree>
    <p:extLst>
      <p:ext uri="{BB962C8B-B14F-4D97-AF65-F5344CB8AC3E}">
        <p14:creationId xmlns:p14="http://schemas.microsoft.com/office/powerpoint/2010/main" val="3972151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presents the proposed solution using a CNN-based approach for brain tumor classification from MRI images. Transfer learning with InceptionV3 is applied to leverage pre-trained knowledge, while fine-tuning enhances performance on medical data. The system includes preprocessing, feature extraction, and classification stages. Grad-CAM is integrated to highlight important regions in the images, providing visual explanations. This approach effectively combines high accuracy with interpretability, enabling reliable predictions and supporting better clinical decision-making.</a:t>
            </a:r>
          </a:p>
          <a:p>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5</a:t>
            </a:fld>
            <a:endParaRPr lang="en-IN" dirty="0"/>
          </a:p>
        </p:txBody>
      </p:sp>
    </p:spTree>
    <p:extLst>
      <p:ext uri="{BB962C8B-B14F-4D97-AF65-F5344CB8AC3E}">
        <p14:creationId xmlns:p14="http://schemas.microsoft.com/office/powerpoint/2010/main" val="3354910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describes the dataset used for brain tumor classification. The MRI dataset is collected from Kaggle and consists of four classes: glioma, meningioma, pituitary tumor, and no tumor, with a total of 8000 images. Data augmentation techniques are applied to balance the dataset and improve diversity. A balanced dataset enhances model performance and generalization, enabling more accurate predictions and robust learning for reliable brain tumor classification.</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6</a:t>
            </a:fld>
            <a:endParaRPr lang="en-IN" dirty="0"/>
          </a:p>
        </p:txBody>
      </p:sp>
    </p:spTree>
    <p:extLst>
      <p:ext uri="{BB962C8B-B14F-4D97-AF65-F5344CB8AC3E}">
        <p14:creationId xmlns:p14="http://schemas.microsoft.com/office/powerpoint/2010/main" val="2761778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explains the data preprocessing steps used for the model. MRI images are resized to 224×224 to match model input requirements, and pixel values are normalized to ensure stable training. Data augmentation techniques such as rotation, flipping, and zooming are applied to increase dataset diversity. These steps help reduce overfitting and improve generalization. Effective preprocessing is essential for enhancing deep learning model performance and achieving accurate, reliable brain tumor classification results.</a:t>
            </a:r>
          </a:p>
          <a:p>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7</a:t>
            </a:fld>
            <a:endParaRPr lang="en-IN" dirty="0"/>
          </a:p>
        </p:txBody>
      </p:sp>
    </p:spTree>
    <p:extLst>
      <p:ext uri="{BB962C8B-B14F-4D97-AF65-F5344CB8AC3E}">
        <p14:creationId xmlns:p14="http://schemas.microsoft.com/office/powerpoint/2010/main" val="3021044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describes the model architecture used for brain tumor classification. InceptionV3 serves as the base model, pretrained on the ImageNet dataset to leverage rich feature representations. Transfer learning reduces training time and improves performance. Additional fully connected layers are added for classification of tumor types. The architecture combines convolutional layers, pooling, and dense layers to effectively extract features. Overall, CNN-based models like InceptionV3 are highly effective for medical image analysis tasks.</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8</a:t>
            </a:fld>
            <a:endParaRPr lang="en-IN" dirty="0"/>
          </a:p>
        </p:txBody>
      </p:sp>
    </p:spTree>
    <p:extLst>
      <p:ext uri="{BB962C8B-B14F-4D97-AF65-F5344CB8AC3E}">
        <p14:creationId xmlns:p14="http://schemas.microsoft.com/office/powerpoint/2010/main" val="1784292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explains why InceptionV3 is chosen for the model. It efficiently captures multi-scale features, enabling better understanding of complex patterns in MRI images. The architecture reduces computational cost while maintaining strong performance compared to deeper networks. It has proven effectiveness in image classification tasks and is well-suited for medical imaging applications. Its efficient design and reduced parameters lead to improved accuracy, making it a reliable choice for brain tumor classification.</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9</a:t>
            </a:fld>
            <a:endParaRPr lang="en-IN" dirty="0"/>
          </a:p>
        </p:txBody>
      </p:sp>
    </p:spTree>
    <p:extLst>
      <p:ext uri="{BB962C8B-B14F-4D97-AF65-F5344CB8AC3E}">
        <p14:creationId xmlns:p14="http://schemas.microsoft.com/office/powerpoint/2010/main" val="2046791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explains the use of Grad-CAM for model explainability. Grad-CAM generates heatmaps that highlight important regions in MRI images influencing predictions. It uses gradients from convolutional layers to understand feature importance and visualize the model’s decision-making process. These visual explanations make AI outputs more transparent and interpretable. Grad-CAM improves trust in AI systems and is widely used in explainable AI to support reliable and understandable medical image analysis.</a:t>
            </a:r>
          </a:p>
          <a:p>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10</a:t>
            </a:fld>
            <a:endParaRPr lang="en-IN" dirty="0"/>
          </a:p>
        </p:txBody>
      </p:sp>
    </p:spTree>
    <p:extLst>
      <p:ext uri="{BB962C8B-B14F-4D97-AF65-F5344CB8AC3E}">
        <p14:creationId xmlns:p14="http://schemas.microsoft.com/office/powerpoint/2010/main" val="1988193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illustrates the system pipeline for brain tumor classification. An input MRI image is first processed through preprocessing steps such as resizing and normalization. The CNN model, based on InceptionV3, extracts features and predicts the tumor class. Simultaneously, Grad-CAM generates a heatmap to provide visual explanations of important regions. The system outputs both prediction and interpretation, ensuring accuracy and transparency while following a standard deep learning workflow for reliable medical image analysis.</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11</a:t>
            </a:fld>
            <a:endParaRPr lang="en-IN" dirty="0"/>
          </a:p>
        </p:txBody>
      </p:sp>
    </p:spTree>
    <p:extLst>
      <p:ext uri="{BB962C8B-B14F-4D97-AF65-F5344CB8AC3E}">
        <p14:creationId xmlns:p14="http://schemas.microsoft.com/office/powerpoint/2010/main" val="3591249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presents the live demonstration of the developed system. The trained InceptionV3 model is first loaded, followed by providing a new MRI scan as input. The model processes the image and predicts the tumor class based on learned features. The output includes both the predicted class and its confidence score. This demonstration showcases the system’s practical usability, enabling real-time, accurate, and interpretable brain tumor classification.</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12</a:t>
            </a:fld>
            <a:endParaRPr lang="en-IN" dirty="0"/>
          </a:p>
        </p:txBody>
      </p:sp>
    </p:spTree>
    <p:extLst>
      <p:ext uri="{BB962C8B-B14F-4D97-AF65-F5344CB8AC3E}">
        <p14:creationId xmlns:p14="http://schemas.microsoft.com/office/powerpoint/2010/main" val="2739843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presents the overall performance of the model on the test dataset. The model achieved a high accuracy of 97.37%, indicating strong predictive capability. Macro precision, recall, and F1-score are all around 0.97, showing balanced performance across all classes. These metrics confirm the model’s reliability and effectiveness. The training and validation curves further demonstrate stable learning, highlighting that the model generalizes well and performs consistently in brain tumor classification tasks.</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13</a:t>
            </a:fld>
            <a:endParaRPr lang="en-IN" dirty="0"/>
          </a:p>
        </p:txBody>
      </p:sp>
    </p:spTree>
    <p:extLst>
      <p:ext uri="{BB962C8B-B14F-4D97-AF65-F5344CB8AC3E}">
        <p14:creationId xmlns:p14="http://schemas.microsoft.com/office/powerpoint/2010/main" val="3717027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presents class-wise performance of the model. The F1-scores indicate strong results across all categories: glioma and meningioma around 0.96, no tumor around 0.98, and pituitary tumor achieving the highest at approximately 0.99. These results demonstrate consistent and reliable classification performance. The balanced dataset contributes to this stability, ensuring that the model performs well across different classes without bias, leading to accurate and robust brain tumor detection.</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14</a:t>
            </a:fld>
            <a:endParaRPr lang="en-IN" dirty="0"/>
          </a:p>
        </p:txBody>
      </p:sp>
    </p:spTree>
    <p:extLst>
      <p:ext uri="{BB962C8B-B14F-4D97-AF65-F5344CB8AC3E}">
        <p14:creationId xmlns:p14="http://schemas.microsoft.com/office/powerpoint/2010/main" val="18202373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presents ROC and confusion matrix evaluation results. The model achieves an excellent ROC AUC score of approximately 0.9985, indicating strong classification capability. The confusion matrix shows very few misclassifications, with most predictions correctly identified across all tumor classes. Low false positives and false negatives highlight the model’s reliability. Overall, these metrics confirm robust and consistent performance, demonstrating the model’s effectiveness in accurate brain tumor classification.</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15</a:t>
            </a:fld>
            <a:endParaRPr lang="en-IN" dirty="0"/>
          </a:p>
        </p:txBody>
      </p:sp>
    </p:spTree>
    <p:extLst>
      <p:ext uri="{BB962C8B-B14F-4D97-AF65-F5344CB8AC3E}">
        <p14:creationId xmlns:p14="http://schemas.microsoft.com/office/powerpoint/2010/main" val="7218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presents Grad-CAM results for model explainability. The heatmaps highlight important regions in MRI images that influence predictions. High activation is clearly observed in tumor areas for correct classifications, while minimal activation appears in no-tumor cases. These results confirm that the model focuses on clinically relevant features. Grad-CAM enhances transparency by visualizing decision-making, helping build trust in the system and supporting reliable, interpretable brain tumor classification.</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16</a:t>
            </a:fld>
            <a:endParaRPr lang="en-IN" dirty="0"/>
          </a:p>
        </p:txBody>
      </p:sp>
    </p:spTree>
    <p:extLst>
      <p:ext uri="{BB962C8B-B14F-4D97-AF65-F5344CB8AC3E}">
        <p14:creationId xmlns:p14="http://schemas.microsoft.com/office/powerpoint/2010/main" val="1955001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highlights ethical considerations in the proposed system. Dataset bias and limited diversity can affect model fairness and generalization. There is a risk of incorrect predictions, which is critical in medical applications. Therefore, the system should support clinicians rather than replace them. Ensuring transparency, accountability, and responsible use is essential. Adhering to ethical AI principles helps build trust and ensures safe, reliable deployment of AI in healthcare settings.</a:t>
            </a:r>
          </a:p>
          <a:p>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17</a:t>
            </a:fld>
            <a:endParaRPr lang="en-IN" dirty="0"/>
          </a:p>
        </p:txBody>
      </p:sp>
    </p:spTree>
    <p:extLst>
      <p:ext uri="{BB962C8B-B14F-4D97-AF65-F5344CB8AC3E}">
        <p14:creationId xmlns:p14="http://schemas.microsoft.com/office/powerpoint/2010/main" val="895126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highlights the impact of the proposed system in healthcare. It supports radiologists by enabling faster and more accurate diagnosis, reducing workload and improving efficiency. The use of Grad-CAM provides visual explanations, increasing trust in AI predictions. The system is especially useful in low-resource settings where expert availability is limited. Overall, it enhances clinical decision-making, contributing to better patient outcomes and more reliable, accessible healthcare solutions.</a:t>
            </a:r>
            <a:endParaRPr lang="en-IN" dirty="0"/>
          </a:p>
          <a:p>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18</a:t>
            </a:fld>
            <a:endParaRPr lang="en-IN" dirty="0"/>
          </a:p>
        </p:txBody>
      </p:sp>
    </p:spTree>
    <p:extLst>
      <p:ext uri="{BB962C8B-B14F-4D97-AF65-F5344CB8AC3E}">
        <p14:creationId xmlns:p14="http://schemas.microsoft.com/office/powerpoint/2010/main" val="3554153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concludes the project by summarizing key outcomes. An explainable deep learning model was developed for brain tumor classification using MRI images. InceptionV3 delivered high accuracy, while Grad-CAM provided clear visual explanations of predictions. The system successfully combines performance with interpretability, making it suitable for medical applications. It supports clinicians in making reliable, informed decisions, ultimately improving diagnostic efficiency and contributing to better patient care.</a:t>
            </a:r>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19</a:t>
            </a:fld>
            <a:endParaRPr lang="en-IN" dirty="0"/>
          </a:p>
        </p:txBody>
      </p:sp>
    </p:spTree>
    <p:extLst>
      <p:ext uri="{BB962C8B-B14F-4D97-AF65-F5344CB8AC3E}">
        <p14:creationId xmlns:p14="http://schemas.microsoft.com/office/powerpoint/2010/main" val="48296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outlines future work for enhancing the system. It includes using real-world hospital datasets to improve reliability and extending the model to 3D MRI analysis for richer feature extraction. Further improvements aim to enhance robustness and generalization across diverse data. Deploying the model as a web or clinical application is also planned. Overall, these steps will strengthen performance and support wider adoption of AI-driven solutions in healthcare.</a:t>
            </a:r>
          </a:p>
          <a:p>
            <a:endParaRPr lang="en-IN" dirty="0"/>
          </a:p>
        </p:txBody>
      </p:sp>
      <p:sp>
        <p:nvSpPr>
          <p:cNvPr id="4" name="Slide Number Placeholder 3"/>
          <p:cNvSpPr>
            <a:spLocks noGrp="1"/>
          </p:cNvSpPr>
          <p:nvPr>
            <p:ph type="sldNum" sz="quarter" idx="5"/>
          </p:nvPr>
        </p:nvSpPr>
        <p:spPr/>
        <p:txBody>
          <a:bodyPr/>
          <a:lstStyle/>
          <a:p>
            <a:fld id="{511CEDBC-3B3C-43AB-B869-14355A49FEFE}" type="slidenum">
              <a:rPr lang="en-IN" smtClean="0"/>
              <a:t>20</a:t>
            </a:fld>
            <a:endParaRPr lang="en-IN" dirty="0"/>
          </a:p>
        </p:txBody>
      </p:sp>
    </p:spTree>
    <p:extLst>
      <p:ext uri="{BB962C8B-B14F-4D97-AF65-F5344CB8AC3E}">
        <p14:creationId xmlns:p14="http://schemas.microsoft.com/office/powerpoint/2010/main" val="3646772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184232560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1387235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23129098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9" name="Footer Placeholder 8"/>
          <p:cNvSpPr>
            <a:spLocks noGrp="1"/>
          </p:cNvSpPr>
          <p:nvPr>
            <p:ph type="ftr" sz="quarter" idx="11"/>
          </p:nvPr>
        </p:nvSpPr>
        <p:spPr/>
        <p:txBody>
          <a:bodyPr/>
          <a:lstStyle/>
          <a:p>
            <a:endParaRPr lang="en-IN" dirty="0"/>
          </a:p>
        </p:txBody>
      </p:sp>
      <p:sp>
        <p:nvSpPr>
          <p:cNvPr id="10" name="Slide Number Placeholder 9"/>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849019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207D930-5E04-484A-91EC-C11CADEF6A24}" type="slidenum">
              <a:rPr lang="en-IN" smtClean="0"/>
              <a:t>‹#›</a:t>
            </a:fld>
            <a:endParaRPr lang="en-IN"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18191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580548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902233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6" name="Footer Placeholder 5"/>
          <p:cNvSpPr>
            <a:spLocks noGrp="1"/>
          </p:cNvSpPr>
          <p:nvPr>
            <p:ph type="ftr" sz="quarter" idx="11"/>
          </p:nvPr>
        </p:nvSpPr>
        <p:spPr>
          <a:xfrm>
            <a:off x="804672" y="6236208"/>
            <a:ext cx="5167503" cy="320040"/>
          </a:xfrm>
        </p:spPr>
        <p:txBody>
          <a:bodyPr/>
          <a:lstStyle>
            <a:lvl1pPr>
              <a:defRPr>
                <a:solidFill>
                  <a:srgbClr val="FFFFFF">
                    <a:alpha val="69804"/>
                  </a:srgbClr>
                </a:solidFill>
              </a:defRPr>
            </a:lvl1pPr>
          </a:lstStyle>
          <a:p>
            <a:endParaRPr lang="en-IN" dirty="0"/>
          </a:p>
        </p:txBody>
      </p:sp>
      <p:sp>
        <p:nvSpPr>
          <p:cNvPr id="7" name="Slide Number Placeholder 6"/>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2621506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90000"/>
                  </a:srgbClr>
                </a:solidFill>
                <a:effectLst>
                  <a:outerShdw blurRad="50800" dist="38100" dir="2700000" algn="tl" rotWithShape="0">
                    <a:prstClr val="black">
                      <a:alpha val="43000"/>
                    </a:prstClr>
                  </a:outerShdw>
                </a:effectLst>
              </a:defRPr>
            </a:lvl1pPr>
          </a:lstStyle>
          <a:p>
            <a:fld id="{8587BAC0-9623-4B4A-BA5A-EE7091A5C6C5}" type="datetimeFigureOut">
              <a:rPr lang="en-IN" smtClean="0"/>
              <a:t>21-04-2026</a:t>
            </a:fld>
            <a:endParaRPr lang="en-IN" dirty="0"/>
          </a:p>
        </p:txBody>
      </p:sp>
      <p:sp>
        <p:nvSpPr>
          <p:cNvPr id="6" name="Footer Placeholder 5"/>
          <p:cNvSpPr>
            <a:spLocks noGrp="1"/>
          </p:cNvSpPr>
          <p:nvPr>
            <p:ph type="ftr" sz="quarter" idx="11"/>
          </p:nvPr>
        </p:nvSpPr>
        <p:spPr>
          <a:xfrm>
            <a:off x="808523" y="6236208"/>
            <a:ext cx="5103729" cy="320040"/>
          </a:xfrm>
        </p:spPr>
        <p:txBody>
          <a:bodyPr/>
          <a:lstStyle>
            <a:lvl1pPr>
              <a:defRPr>
                <a:solidFill>
                  <a:srgbClr val="FFFFFF">
                    <a:alpha val="70000"/>
                  </a:srgbClr>
                </a:solidFill>
              </a:defRPr>
            </a:lvl1pPr>
          </a:lstStyle>
          <a:p>
            <a:endParaRPr lang="en-IN" dirty="0"/>
          </a:p>
        </p:txBody>
      </p:sp>
      <p:sp>
        <p:nvSpPr>
          <p:cNvPr id="7" name="Slide Number Placeholder 6"/>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422537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41779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7BAC0-9623-4B4A-BA5A-EE7091A5C6C5}" type="datetimeFigureOut">
              <a:rPr lang="en-IN" smtClean="0"/>
              <a:t>21-04-2026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207D930-5E04-484A-91EC-C11CADEF6A24}" type="slidenum">
              <a:rPr lang="en-IN" smtClean="0"/>
              <a:t>‹#›</a:t>
            </a:fld>
            <a:endParaRPr lang="en-IN" dirty="0"/>
          </a:p>
        </p:txBody>
      </p:sp>
    </p:spTree>
    <p:extLst>
      <p:ext uri="{BB962C8B-B14F-4D97-AF65-F5344CB8AC3E}">
        <p14:creationId xmlns:p14="http://schemas.microsoft.com/office/powerpoint/2010/main" val="1010441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587BAC0-9623-4B4A-BA5A-EE7091A5C6C5}" type="datetimeFigureOut">
              <a:rPr lang="en-IN" smtClean="0"/>
              <a:t>21-04-2026</a:t>
            </a:fld>
            <a:endParaRPr lang="en-IN"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207D930-5E04-484A-91EC-C11CADEF6A24}" type="slidenum">
              <a:rPr lang="en-IN" smtClean="0"/>
              <a:t>‹#›</a:t>
            </a:fld>
            <a:endParaRPr lang="en-IN" dirty="0"/>
          </a:p>
        </p:txBody>
      </p:sp>
    </p:spTree>
    <p:extLst>
      <p:ext uri="{BB962C8B-B14F-4D97-AF65-F5344CB8AC3E}">
        <p14:creationId xmlns:p14="http://schemas.microsoft.com/office/powerpoint/2010/main" val="51875218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github.com/35056525/Group10-DataScience-Brai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696AE0C-BD0C-5061-DC4E-7A7823F010A7}"/>
              </a:ext>
            </a:extLst>
          </p:cNvPr>
          <p:cNvSpPr>
            <a:spLocks noGrp="1"/>
          </p:cNvSpPr>
          <p:nvPr>
            <p:ph type="title"/>
          </p:nvPr>
        </p:nvSpPr>
        <p:spPr>
          <a:xfrm>
            <a:off x="537329" y="518475"/>
            <a:ext cx="11199042" cy="1875933"/>
          </a:xfrm>
        </p:spPr>
        <p:txBody>
          <a:bodyPr>
            <a:normAutofit/>
          </a:bodyPr>
          <a:lstStyle/>
          <a:p>
            <a:r>
              <a:rPr lang="en-US" b="1" dirty="0">
                <a:effectLst>
                  <a:outerShdw blurRad="38100" dist="38100" dir="2700000" algn="tl">
                    <a:srgbClr val="000000">
                      <a:alpha val="43137"/>
                    </a:srgbClr>
                  </a:outerShdw>
                </a:effectLst>
              </a:rPr>
              <a:t>Explainable deep learning for brain tumor classification in MRI images using Grad-CAM</a:t>
            </a:r>
            <a:br>
              <a:rPr lang="en-US" dirty="0"/>
            </a:br>
            <a:endParaRPr lang="en-IN" dirty="0"/>
          </a:p>
        </p:txBody>
      </p:sp>
      <p:pic>
        <p:nvPicPr>
          <p:cNvPr id="12" name="Picture 11">
            <a:extLst>
              <a:ext uri="{FF2B5EF4-FFF2-40B4-BE49-F238E27FC236}">
                <a16:creationId xmlns:a16="http://schemas.microsoft.com/office/drawing/2014/main" id="{308FA896-EAAA-73C4-EBEB-60F9190AC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913" y="2488676"/>
            <a:ext cx="11604396" cy="4369324"/>
          </a:xfrm>
          <a:prstGeom prst="rect">
            <a:avLst/>
          </a:prstGeom>
        </p:spPr>
      </p:pic>
    </p:spTree>
    <p:extLst>
      <p:ext uri="{BB962C8B-B14F-4D97-AF65-F5344CB8AC3E}">
        <p14:creationId xmlns:p14="http://schemas.microsoft.com/office/powerpoint/2010/main" val="3278633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3D7EEA-6C2E-C448-E010-ADAC58BE3716}"/>
              </a:ext>
            </a:extLst>
          </p:cNvPr>
          <p:cNvPicPr>
            <a:picLocks noChangeAspect="1"/>
          </p:cNvPicPr>
          <p:nvPr/>
        </p:nvPicPr>
        <p:blipFill>
          <a:blip r:embed="rId3">
            <a:extLst>
              <a:ext uri="{28A0092B-C50C-407E-A947-70E740481C1C}">
                <a14:useLocalDpi xmlns:a14="http://schemas.microsoft.com/office/drawing/2010/main" val="0"/>
              </a:ext>
            </a:extLst>
          </a:blip>
          <a:srcRect b="22337"/>
          <a:stretch>
            <a:fillRect/>
          </a:stretch>
        </p:blipFill>
        <p:spPr>
          <a:xfrm>
            <a:off x="0" y="1"/>
            <a:ext cx="12192000" cy="5344998"/>
          </a:xfrm>
          <a:prstGeom prst="rect">
            <a:avLst/>
          </a:prstGeom>
        </p:spPr>
      </p:pic>
      <p:sp>
        <p:nvSpPr>
          <p:cNvPr id="4" name="Title 3">
            <a:extLst>
              <a:ext uri="{FF2B5EF4-FFF2-40B4-BE49-F238E27FC236}">
                <a16:creationId xmlns:a16="http://schemas.microsoft.com/office/drawing/2014/main" id="{E3D99164-62D9-E1B3-996E-8849BFD47DDA}"/>
              </a:ext>
            </a:extLst>
          </p:cNvPr>
          <p:cNvSpPr>
            <a:spLocks noGrp="1"/>
          </p:cNvSpPr>
          <p:nvPr>
            <p:ph type="title"/>
          </p:nvPr>
        </p:nvSpPr>
        <p:spPr>
          <a:xfrm>
            <a:off x="320511" y="5514680"/>
            <a:ext cx="11033289" cy="1013382"/>
          </a:xfrm>
        </p:spPr>
        <p:txBody>
          <a:bodyPr>
            <a:normAutofit fontScale="90000"/>
          </a:bodyPr>
          <a:lstStyle/>
          <a:p>
            <a:pPr algn="l"/>
            <a:r>
              <a:rPr lang="en-IN" sz="2000" b="1" cap="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Group Github Link[Week 1-12] : </a:t>
            </a:r>
            <a:br>
              <a:rPr lang="en-IN" sz="2000" b="1" cap="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IN" sz="2000" b="1" cap="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4"/>
              </a:rPr>
              <a:t>https://github.com/35056525/Group10-DataScience-Brain</a:t>
            </a:r>
            <a:br>
              <a:rPr lang="en-IN" sz="2000" b="1" cap="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sz="2000" b="1" cap="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3370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5AB3B-442A-FEDB-25A2-7051933CC8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7F7016-E13A-D048-23CB-2E074907DD8A}"/>
              </a:ext>
            </a:extLst>
          </p:cNvPr>
          <p:cNvSpPr>
            <a:spLocks noGrp="1"/>
          </p:cNvSpPr>
          <p:nvPr>
            <p:ph type="title"/>
          </p:nvPr>
        </p:nvSpPr>
        <p:spPr>
          <a:xfrm>
            <a:off x="2165148" y="287518"/>
            <a:ext cx="7729728" cy="890833"/>
          </a:xfrm>
        </p:spPr>
        <p:txBody>
          <a:bodyPr/>
          <a:lstStyle/>
          <a:p>
            <a:r>
              <a:rPr lang="en-IN" b="1" dirty="0">
                <a:effectLst>
                  <a:outerShdw blurRad="38100" dist="38100" dir="2700000" algn="tl">
                    <a:srgbClr val="000000">
                      <a:alpha val="43137"/>
                    </a:srgbClr>
                  </a:outerShdw>
                </a:effectLst>
              </a:rPr>
              <a:t>PROBLEM AND SIGNIFICANCE</a:t>
            </a:r>
          </a:p>
        </p:txBody>
      </p:sp>
      <p:sp>
        <p:nvSpPr>
          <p:cNvPr id="5" name="Content Placeholder 4">
            <a:extLst>
              <a:ext uri="{FF2B5EF4-FFF2-40B4-BE49-F238E27FC236}">
                <a16:creationId xmlns:a16="http://schemas.microsoft.com/office/drawing/2014/main" id="{7135F10F-DF79-D590-C4D3-E379AF688457}"/>
              </a:ext>
            </a:extLst>
          </p:cNvPr>
          <p:cNvSpPr>
            <a:spLocks noGrp="1"/>
          </p:cNvSpPr>
          <p:nvPr>
            <p:ph idx="1"/>
          </p:nvPr>
        </p:nvSpPr>
        <p:spPr>
          <a:xfrm>
            <a:off x="4223208" y="1847654"/>
            <a:ext cx="7447175" cy="4722828"/>
          </a:xfrm>
        </p:spPr>
        <p:txBody>
          <a:bodyPr>
            <a:normAutofit/>
          </a:bodyPr>
          <a:lstStyle/>
          <a:p>
            <a:pPr>
              <a:buFont typeface="Wingdings" panose="05000000000000000000" pitchFamily="2" charset="2"/>
              <a:buChar char="v"/>
            </a:pPr>
            <a:r>
              <a:rPr lang="en-US" sz="2400" dirty="0"/>
              <a:t>Brain tumors require early and accurate detection for effective treatment (Litjens et al., 2017).</a:t>
            </a:r>
          </a:p>
          <a:p>
            <a:pPr>
              <a:buFont typeface="Wingdings" panose="05000000000000000000" pitchFamily="2" charset="2"/>
              <a:buChar char="v"/>
            </a:pPr>
            <a:r>
              <a:rPr lang="en-US" sz="2400" dirty="0"/>
              <a:t>MRI is widely used but interpretation is complex and time-consuming.</a:t>
            </a:r>
          </a:p>
          <a:p>
            <a:pPr>
              <a:buFont typeface="Wingdings" panose="05000000000000000000" pitchFamily="2" charset="2"/>
              <a:buChar char="v"/>
            </a:pPr>
            <a:r>
              <a:rPr lang="en-US" sz="2400" dirty="0"/>
              <a:t>Diagnosis depends heavily on expert knowledge and experience.</a:t>
            </a:r>
          </a:p>
          <a:p>
            <a:pPr>
              <a:buFont typeface="Wingdings" panose="05000000000000000000" pitchFamily="2" charset="2"/>
              <a:buChar char="v"/>
            </a:pPr>
            <a:r>
              <a:rPr lang="en-US" sz="2400" dirty="0"/>
              <a:t>Radiologists face workload and fatigue, increasing risk of errors.</a:t>
            </a:r>
          </a:p>
          <a:p>
            <a:pPr>
              <a:buFont typeface="Wingdings" panose="05000000000000000000" pitchFamily="2" charset="2"/>
              <a:buChar char="v"/>
            </a:pPr>
            <a:r>
              <a:rPr lang="en-US" sz="2400" dirty="0"/>
              <a:t>Trust is essential in medical AI systems (Samek et al., 2017) </a:t>
            </a:r>
          </a:p>
          <a:p>
            <a:pPr marL="0" indent="0">
              <a:buNone/>
            </a:pPr>
            <a:endParaRPr lang="en-IN" dirty="0"/>
          </a:p>
        </p:txBody>
      </p:sp>
      <p:pic>
        <p:nvPicPr>
          <p:cNvPr id="3" name="Picture 2">
            <a:extLst>
              <a:ext uri="{FF2B5EF4-FFF2-40B4-BE49-F238E27FC236}">
                <a16:creationId xmlns:a16="http://schemas.microsoft.com/office/drawing/2014/main" id="{A78A94BA-D950-8761-1B1A-2022F340B473}"/>
              </a:ext>
            </a:extLst>
          </p:cNvPr>
          <p:cNvPicPr>
            <a:picLocks noChangeAspect="1"/>
          </p:cNvPicPr>
          <p:nvPr/>
        </p:nvPicPr>
        <p:blipFill>
          <a:blip r:embed="rId3">
            <a:extLst>
              <a:ext uri="{28A0092B-C50C-407E-A947-70E740481C1C}">
                <a14:useLocalDpi xmlns:a14="http://schemas.microsoft.com/office/drawing/2010/main" val="0"/>
              </a:ext>
            </a:extLst>
          </a:blip>
          <a:srcRect l="54888" t="15120"/>
          <a:stretch>
            <a:fillRect/>
          </a:stretch>
        </p:blipFill>
        <p:spPr>
          <a:xfrm>
            <a:off x="322207" y="1847654"/>
            <a:ext cx="3685881" cy="4958499"/>
          </a:xfrm>
          <a:prstGeom prst="rect">
            <a:avLst/>
          </a:prstGeom>
        </p:spPr>
      </p:pic>
    </p:spTree>
    <p:extLst>
      <p:ext uri="{BB962C8B-B14F-4D97-AF65-F5344CB8AC3E}">
        <p14:creationId xmlns:p14="http://schemas.microsoft.com/office/powerpoint/2010/main" val="3728862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AF6A4-EEF6-2941-AB86-2416CCB83D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612C3C-DCEA-9AEC-872F-1C396043EEA4}"/>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GAP AND OBJECTIVE</a:t>
            </a:r>
          </a:p>
        </p:txBody>
      </p:sp>
      <p:sp>
        <p:nvSpPr>
          <p:cNvPr id="5" name="Content Placeholder 4">
            <a:extLst>
              <a:ext uri="{FF2B5EF4-FFF2-40B4-BE49-F238E27FC236}">
                <a16:creationId xmlns:a16="http://schemas.microsoft.com/office/drawing/2014/main" id="{3F6D79E3-DFA6-AFEE-8540-90DF90D7CD89}"/>
              </a:ext>
            </a:extLst>
          </p:cNvPr>
          <p:cNvSpPr>
            <a:spLocks noGrp="1"/>
          </p:cNvSpPr>
          <p:nvPr>
            <p:ph idx="1"/>
          </p:nvPr>
        </p:nvSpPr>
        <p:spPr>
          <a:xfrm>
            <a:off x="518474" y="1611984"/>
            <a:ext cx="6155703" cy="4958498"/>
          </a:xfrm>
        </p:spPr>
        <p:txBody>
          <a:bodyPr>
            <a:normAutofit/>
          </a:bodyPr>
          <a:lstStyle/>
          <a:p>
            <a:pPr>
              <a:buFont typeface="Wingdings" panose="05000000000000000000" pitchFamily="2" charset="2"/>
              <a:buChar char="v"/>
            </a:pPr>
            <a:r>
              <a:rPr lang="en-US" sz="2400" dirty="0"/>
              <a:t>Many deep learning models operate as black-box systems (Ribeiro et al., 2016).</a:t>
            </a:r>
          </a:p>
          <a:p>
            <a:pPr>
              <a:buFont typeface="Wingdings" panose="05000000000000000000" pitchFamily="2" charset="2"/>
              <a:buChar char="v"/>
            </a:pPr>
            <a:r>
              <a:rPr lang="en-US" sz="2400" dirty="0"/>
              <a:t>Lack of explainability limits real-world clinical adoption.</a:t>
            </a:r>
          </a:p>
          <a:p>
            <a:pPr>
              <a:buFont typeface="Wingdings" panose="05000000000000000000" pitchFamily="2" charset="2"/>
              <a:buChar char="v"/>
            </a:pPr>
            <a:r>
              <a:rPr lang="en-US" sz="2400" dirty="0"/>
              <a:t>Clinicians cannot verify predictions made by AI systems.</a:t>
            </a:r>
          </a:p>
          <a:p>
            <a:pPr>
              <a:buFont typeface="Wingdings" panose="05000000000000000000" pitchFamily="2" charset="2"/>
              <a:buChar char="v"/>
            </a:pPr>
            <a:r>
              <a:rPr lang="en-US" sz="2400" dirty="0"/>
              <a:t>Objective is to build an accurate and explainable classification model.</a:t>
            </a:r>
          </a:p>
          <a:p>
            <a:pPr>
              <a:buFont typeface="Wingdings" panose="05000000000000000000" pitchFamily="2" charset="2"/>
              <a:buChar char="v"/>
            </a:pPr>
            <a:r>
              <a:rPr lang="en-US" sz="2400" dirty="0"/>
              <a:t>Grad-CAM is used to provide visual explanations (Selvaraju et al., 2017).</a:t>
            </a:r>
            <a:endParaRPr lang="en-IN" sz="2400" dirty="0"/>
          </a:p>
        </p:txBody>
      </p:sp>
      <p:pic>
        <p:nvPicPr>
          <p:cNvPr id="3" name="Picture 2">
            <a:extLst>
              <a:ext uri="{FF2B5EF4-FFF2-40B4-BE49-F238E27FC236}">
                <a16:creationId xmlns:a16="http://schemas.microsoft.com/office/drawing/2014/main" id="{1F9836F4-1D73-CFBE-1894-61511287B3CC}"/>
              </a:ext>
            </a:extLst>
          </p:cNvPr>
          <p:cNvPicPr>
            <a:picLocks noChangeAspect="1"/>
          </p:cNvPicPr>
          <p:nvPr/>
        </p:nvPicPr>
        <p:blipFill>
          <a:blip r:embed="rId3">
            <a:extLst>
              <a:ext uri="{28A0092B-C50C-407E-A947-70E740481C1C}">
                <a14:useLocalDpi xmlns:a14="http://schemas.microsoft.com/office/drawing/2010/main" val="0"/>
              </a:ext>
            </a:extLst>
          </a:blip>
          <a:srcRect l="56995" t="15257"/>
          <a:stretch>
            <a:fillRect/>
          </a:stretch>
        </p:blipFill>
        <p:spPr>
          <a:xfrm>
            <a:off x="7352905" y="1611985"/>
            <a:ext cx="4423921" cy="5246015"/>
          </a:xfrm>
          <a:prstGeom prst="rect">
            <a:avLst/>
          </a:prstGeom>
        </p:spPr>
      </p:pic>
    </p:spTree>
    <p:extLst>
      <p:ext uri="{BB962C8B-B14F-4D97-AF65-F5344CB8AC3E}">
        <p14:creationId xmlns:p14="http://schemas.microsoft.com/office/powerpoint/2010/main" val="3431057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639EB-8078-5059-9818-A9B0F73995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C01D0E-FC3F-6FA4-3DE9-4BAEC1EAD67B}"/>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PROPOSED SOLUTION</a:t>
            </a:r>
          </a:p>
        </p:txBody>
      </p:sp>
      <p:sp>
        <p:nvSpPr>
          <p:cNvPr id="5" name="Content Placeholder 4">
            <a:extLst>
              <a:ext uri="{FF2B5EF4-FFF2-40B4-BE49-F238E27FC236}">
                <a16:creationId xmlns:a16="http://schemas.microsoft.com/office/drawing/2014/main" id="{F9DE24E8-882D-A781-9A35-E4690835EB61}"/>
              </a:ext>
            </a:extLst>
          </p:cNvPr>
          <p:cNvSpPr>
            <a:spLocks noGrp="1"/>
          </p:cNvSpPr>
          <p:nvPr>
            <p:ph idx="1"/>
          </p:nvPr>
        </p:nvSpPr>
        <p:spPr>
          <a:xfrm>
            <a:off x="518475" y="1611984"/>
            <a:ext cx="5577526" cy="4958498"/>
          </a:xfrm>
        </p:spPr>
        <p:txBody>
          <a:bodyPr>
            <a:normAutofit/>
          </a:bodyPr>
          <a:lstStyle/>
          <a:p>
            <a:pPr>
              <a:buFont typeface="Wingdings" panose="05000000000000000000" pitchFamily="2" charset="2"/>
              <a:buChar char="v"/>
            </a:pPr>
            <a:r>
              <a:rPr lang="en-US" sz="2400" dirty="0"/>
              <a:t>A CNN-based system is developed for MRI image classification.</a:t>
            </a:r>
          </a:p>
          <a:p>
            <a:pPr>
              <a:buFont typeface="Wingdings" panose="05000000000000000000" pitchFamily="2" charset="2"/>
              <a:buChar char="v"/>
            </a:pPr>
            <a:r>
              <a:rPr lang="en-US" sz="2400" dirty="0"/>
              <a:t>Transfer learning is applied using InceptionV3(Szegedy et al., 2016). </a:t>
            </a:r>
          </a:p>
          <a:p>
            <a:pPr>
              <a:buFont typeface="Wingdings" panose="05000000000000000000" pitchFamily="2" charset="2"/>
              <a:buChar char="v"/>
            </a:pPr>
            <a:r>
              <a:rPr lang="en-IN" sz="2400" dirty="0"/>
              <a:t>Fine-tuning improves performance on medical data.</a:t>
            </a:r>
          </a:p>
          <a:p>
            <a:pPr>
              <a:buFont typeface="Wingdings" panose="05000000000000000000" pitchFamily="2" charset="2"/>
              <a:buChar char="v"/>
            </a:pPr>
            <a:r>
              <a:rPr lang="en-US" sz="2400" dirty="0"/>
              <a:t>Grad-CAM is integrated to highlight important regions.</a:t>
            </a:r>
          </a:p>
          <a:p>
            <a:pPr>
              <a:buFont typeface="Wingdings" panose="05000000000000000000" pitchFamily="2" charset="2"/>
              <a:buChar char="v"/>
            </a:pPr>
            <a:r>
              <a:rPr lang="en-US" sz="2400" dirty="0"/>
              <a:t>Combines accuracy with interpretability (Chollet, 2017).</a:t>
            </a:r>
            <a:endParaRPr lang="en-IN" sz="2400" dirty="0"/>
          </a:p>
        </p:txBody>
      </p:sp>
      <p:pic>
        <p:nvPicPr>
          <p:cNvPr id="10" name="Picture 9">
            <a:extLst>
              <a:ext uri="{FF2B5EF4-FFF2-40B4-BE49-F238E27FC236}">
                <a16:creationId xmlns:a16="http://schemas.microsoft.com/office/drawing/2014/main" id="{A70CD46B-FABC-E11B-B07E-56FB0211CD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2051" y="1621410"/>
            <a:ext cx="4291370" cy="5236590"/>
          </a:xfrm>
          <a:prstGeom prst="rect">
            <a:avLst/>
          </a:prstGeom>
        </p:spPr>
      </p:pic>
    </p:spTree>
    <p:extLst>
      <p:ext uri="{BB962C8B-B14F-4D97-AF65-F5344CB8AC3E}">
        <p14:creationId xmlns:p14="http://schemas.microsoft.com/office/powerpoint/2010/main" val="2888727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19DF2-FDC2-B001-F809-2FBE8EEF22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370F44-AB30-61DB-4899-1B7CB655C49F}"/>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DATASET</a:t>
            </a:r>
          </a:p>
        </p:txBody>
      </p:sp>
      <p:sp>
        <p:nvSpPr>
          <p:cNvPr id="5" name="Content Placeholder 4">
            <a:extLst>
              <a:ext uri="{FF2B5EF4-FFF2-40B4-BE49-F238E27FC236}">
                <a16:creationId xmlns:a16="http://schemas.microsoft.com/office/drawing/2014/main" id="{673C884A-742C-387E-136C-8ED5EF5433DD}"/>
              </a:ext>
            </a:extLst>
          </p:cNvPr>
          <p:cNvSpPr>
            <a:spLocks noGrp="1"/>
          </p:cNvSpPr>
          <p:nvPr>
            <p:ph idx="1"/>
          </p:nvPr>
        </p:nvSpPr>
        <p:spPr>
          <a:xfrm>
            <a:off x="518474" y="1611984"/>
            <a:ext cx="6155703" cy="4958498"/>
          </a:xfrm>
        </p:spPr>
        <p:txBody>
          <a:bodyPr>
            <a:normAutofit/>
          </a:bodyPr>
          <a:lstStyle/>
          <a:p>
            <a:pPr>
              <a:buFont typeface="Wingdings" panose="05000000000000000000" pitchFamily="2" charset="2"/>
              <a:buChar char="v"/>
            </a:pPr>
            <a:r>
              <a:rPr lang="en-US" sz="2400" dirty="0"/>
              <a:t>Brain tumor MRI dataset collected from Kaggle.</a:t>
            </a:r>
          </a:p>
          <a:p>
            <a:pPr>
              <a:buFont typeface="Wingdings" panose="05000000000000000000" pitchFamily="2" charset="2"/>
              <a:buChar char="v"/>
            </a:pPr>
            <a:r>
              <a:rPr lang="en-IN" sz="2400" dirty="0"/>
              <a:t>Four classes: glioma, meningioma, pituitary, no tumor.</a:t>
            </a:r>
          </a:p>
          <a:p>
            <a:pPr>
              <a:buFont typeface="Wingdings" panose="05000000000000000000" pitchFamily="2" charset="2"/>
              <a:buChar char="v"/>
            </a:pPr>
            <a:r>
              <a:rPr lang="en-IN" sz="2400" dirty="0"/>
              <a:t>Dataset balanced using augmentation techniques.</a:t>
            </a:r>
          </a:p>
          <a:p>
            <a:pPr>
              <a:buFont typeface="Wingdings" panose="05000000000000000000" pitchFamily="2" charset="2"/>
              <a:buChar char="v"/>
            </a:pPr>
            <a:r>
              <a:rPr lang="en-IN" sz="2400" dirty="0"/>
              <a:t>Balanced data improves model performance (Goodfellow et al., 2016).</a:t>
            </a:r>
          </a:p>
          <a:p>
            <a:pPr>
              <a:buFont typeface="Wingdings" panose="05000000000000000000" pitchFamily="2" charset="2"/>
              <a:buChar char="v"/>
            </a:pPr>
            <a:r>
              <a:rPr lang="en-US" sz="2400" dirty="0"/>
              <a:t>Augmentation increases diversity (Shorten and Khoshgoftaar, 2019).</a:t>
            </a:r>
            <a:endParaRPr lang="en-IN" sz="2400" dirty="0"/>
          </a:p>
        </p:txBody>
      </p:sp>
      <p:pic>
        <p:nvPicPr>
          <p:cNvPr id="3" name="Picture 2">
            <a:extLst>
              <a:ext uri="{FF2B5EF4-FFF2-40B4-BE49-F238E27FC236}">
                <a16:creationId xmlns:a16="http://schemas.microsoft.com/office/drawing/2014/main" id="{387A6D2E-33C8-E7DA-C8BA-7377BEE05463}"/>
              </a:ext>
            </a:extLst>
          </p:cNvPr>
          <p:cNvPicPr>
            <a:picLocks noChangeAspect="1"/>
          </p:cNvPicPr>
          <p:nvPr/>
        </p:nvPicPr>
        <p:blipFill>
          <a:blip r:embed="rId3"/>
          <a:stretch>
            <a:fillRect/>
          </a:stretch>
        </p:blipFill>
        <p:spPr>
          <a:xfrm>
            <a:off x="7860308" y="1404594"/>
            <a:ext cx="4201111" cy="1514686"/>
          </a:xfrm>
          <a:prstGeom prst="rect">
            <a:avLst/>
          </a:prstGeom>
        </p:spPr>
      </p:pic>
      <p:pic>
        <p:nvPicPr>
          <p:cNvPr id="9" name="Picture 8">
            <a:extLst>
              <a:ext uri="{FF2B5EF4-FFF2-40B4-BE49-F238E27FC236}">
                <a16:creationId xmlns:a16="http://schemas.microsoft.com/office/drawing/2014/main" id="{07B9779E-F74A-0FCD-3546-34847CDBC638}"/>
              </a:ext>
            </a:extLst>
          </p:cNvPr>
          <p:cNvPicPr>
            <a:picLocks noChangeAspect="1"/>
          </p:cNvPicPr>
          <p:nvPr/>
        </p:nvPicPr>
        <p:blipFill>
          <a:blip r:embed="rId4"/>
          <a:stretch>
            <a:fillRect/>
          </a:stretch>
        </p:blipFill>
        <p:spPr>
          <a:xfrm>
            <a:off x="6733881" y="3032402"/>
            <a:ext cx="5458119" cy="3731330"/>
          </a:xfrm>
          <a:prstGeom prst="rect">
            <a:avLst/>
          </a:prstGeom>
        </p:spPr>
      </p:pic>
    </p:spTree>
    <p:extLst>
      <p:ext uri="{BB962C8B-B14F-4D97-AF65-F5344CB8AC3E}">
        <p14:creationId xmlns:p14="http://schemas.microsoft.com/office/powerpoint/2010/main" val="419407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E4585-7EBB-FAF8-DFC5-17D4AC2C6D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520A43-A775-910B-41B6-2152F4D09798}"/>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DATA PREPROCESSING</a:t>
            </a:r>
          </a:p>
        </p:txBody>
      </p:sp>
      <p:sp>
        <p:nvSpPr>
          <p:cNvPr id="5" name="Content Placeholder 4">
            <a:extLst>
              <a:ext uri="{FF2B5EF4-FFF2-40B4-BE49-F238E27FC236}">
                <a16:creationId xmlns:a16="http://schemas.microsoft.com/office/drawing/2014/main" id="{FA58180D-C9D2-3E38-E998-732E8B966EF0}"/>
              </a:ext>
            </a:extLst>
          </p:cNvPr>
          <p:cNvSpPr>
            <a:spLocks noGrp="1"/>
          </p:cNvSpPr>
          <p:nvPr>
            <p:ph idx="1"/>
          </p:nvPr>
        </p:nvSpPr>
        <p:spPr>
          <a:xfrm>
            <a:off x="518474" y="1611984"/>
            <a:ext cx="6155703" cy="4958498"/>
          </a:xfrm>
        </p:spPr>
        <p:txBody>
          <a:bodyPr/>
          <a:lstStyle/>
          <a:p>
            <a:pPr>
              <a:buFont typeface="Wingdings" panose="05000000000000000000" pitchFamily="2" charset="2"/>
              <a:buChar char="v"/>
            </a:pPr>
            <a:r>
              <a:rPr lang="en-US" sz="2800" dirty="0"/>
              <a:t>Images resized to 224 x 224 for model input.</a:t>
            </a:r>
          </a:p>
          <a:p>
            <a:pPr>
              <a:buFont typeface="Wingdings" panose="05000000000000000000" pitchFamily="2" charset="2"/>
              <a:buChar char="v"/>
            </a:pPr>
            <a:r>
              <a:rPr lang="en-US" sz="2800" dirty="0"/>
              <a:t>Pixel values normalized for stable training.</a:t>
            </a:r>
          </a:p>
          <a:p>
            <a:pPr>
              <a:buFont typeface="Wingdings" panose="05000000000000000000" pitchFamily="2" charset="2"/>
              <a:buChar char="v"/>
            </a:pPr>
            <a:r>
              <a:rPr lang="en-US" sz="2800" dirty="0"/>
              <a:t>Data augmentation applied: rotation, flipping, zoom.</a:t>
            </a:r>
          </a:p>
          <a:p>
            <a:pPr>
              <a:buFont typeface="Wingdings" panose="05000000000000000000" pitchFamily="2" charset="2"/>
              <a:buChar char="v"/>
            </a:pPr>
            <a:r>
              <a:rPr lang="en-US" sz="2800" dirty="0"/>
              <a:t>Helps reduce overfitting and improve generalization.</a:t>
            </a:r>
          </a:p>
          <a:p>
            <a:pPr>
              <a:buFont typeface="Wingdings" panose="05000000000000000000" pitchFamily="2" charset="2"/>
              <a:buChar char="v"/>
            </a:pPr>
            <a:r>
              <a:rPr lang="en-IN" sz="2800" dirty="0"/>
              <a:t>Important for deep learning performance (LeCun et al., 2015). </a:t>
            </a:r>
          </a:p>
          <a:p>
            <a:pPr marL="0" indent="0">
              <a:buNone/>
            </a:pPr>
            <a:endParaRPr lang="en-IN" dirty="0"/>
          </a:p>
        </p:txBody>
      </p:sp>
      <p:pic>
        <p:nvPicPr>
          <p:cNvPr id="3" name="Picture 2">
            <a:extLst>
              <a:ext uri="{FF2B5EF4-FFF2-40B4-BE49-F238E27FC236}">
                <a16:creationId xmlns:a16="http://schemas.microsoft.com/office/drawing/2014/main" id="{CCD5F9B9-C714-F6D4-9524-69C95BBDC4A8}"/>
              </a:ext>
            </a:extLst>
          </p:cNvPr>
          <p:cNvPicPr>
            <a:picLocks noChangeAspect="1"/>
          </p:cNvPicPr>
          <p:nvPr/>
        </p:nvPicPr>
        <p:blipFill>
          <a:blip r:embed="rId3"/>
          <a:stretch>
            <a:fillRect/>
          </a:stretch>
        </p:blipFill>
        <p:spPr>
          <a:xfrm>
            <a:off x="7856526" y="1404594"/>
            <a:ext cx="4049528" cy="3978111"/>
          </a:xfrm>
          <a:prstGeom prst="rect">
            <a:avLst/>
          </a:prstGeom>
        </p:spPr>
      </p:pic>
      <p:pic>
        <p:nvPicPr>
          <p:cNvPr id="7" name="Picture 6">
            <a:extLst>
              <a:ext uri="{FF2B5EF4-FFF2-40B4-BE49-F238E27FC236}">
                <a16:creationId xmlns:a16="http://schemas.microsoft.com/office/drawing/2014/main" id="{CC1F9893-D7AA-4568-77C4-64C097936280}"/>
              </a:ext>
            </a:extLst>
          </p:cNvPr>
          <p:cNvPicPr>
            <a:picLocks noChangeAspect="1"/>
          </p:cNvPicPr>
          <p:nvPr/>
        </p:nvPicPr>
        <p:blipFill>
          <a:blip r:embed="rId4"/>
          <a:stretch>
            <a:fillRect/>
          </a:stretch>
        </p:blipFill>
        <p:spPr>
          <a:xfrm>
            <a:off x="7856526" y="5514950"/>
            <a:ext cx="3945833" cy="1055531"/>
          </a:xfrm>
          <a:prstGeom prst="rect">
            <a:avLst/>
          </a:prstGeom>
        </p:spPr>
      </p:pic>
    </p:spTree>
    <p:extLst>
      <p:ext uri="{BB962C8B-B14F-4D97-AF65-F5344CB8AC3E}">
        <p14:creationId xmlns:p14="http://schemas.microsoft.com/office/powerpoint/2010/main" val="91092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6DB81-64F2-6B0A-8FB8-0EDB5C3A7D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4BCD54-4F7B-4DBD-3D60-08327A2CEE88}"/>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MODEL ARCHITECTURE</a:t>
            </a:r>
          </a:p>
        </p:txBody>
      </p:sp>
      <p:sp>
        <p:nvSpPr>
          <p:cNvPr id="5" name="Content Placeholder 4">
            <a:extLst>
              <a:ext uri="{FF2B5EF4-FFF2-40B4-BE49-F238E27FC236}">
                <a16:creationId xmlns:a16="http://schemas.microsoft.com/office/drawing/2014/main" id="{2F8B8E0F-545F-575C-D54C-9416E3273913}"/>
              </a:ext>
            </a:extLst>
          </p:cNvPr>
          <p:cNvSpPr>
            <a:spLocks noGrp="1"/>
          </p:cNvSpPr>
          <p:nvPr>
            <p:ph idx="1"/>
          </p:nvPr>
        </p:nvSpPr>
        <p:spPr>
          <a:xfrm>
            <a:off x="518475" y="1611984"/>
            <a:ext cx="5577526" cy="4958498"/>
          </a:xfrm>
        </p:spPr>
        <p:txBody>
          <a:bodyPr>
            <a:normAutofit/>
          </a:bodyPr>
          <a:lstStyle/>
          <a:p>
            <a:pPr>
              <a:buFont typeface="Wingdings" panose="05000000000000000000" pitchFamily="2" charset="2"/>
              <a:buChar char="v"/>
            </a:pPr>
            <a:r>
              <a:rPr lang="en-US" sz="2800" dirty="0"/>
              <a:t>InceptionV3 used as the base model.</a:t>
            </a:r>
          </a:p>
          <a:p>
            <a:pPr>
              <a:buFont typeface="Wingdings" panose="05000000000000000000" pitchFamily="2" charset="2"/>
              <a:buChar char="v"/>
            </a:pPr>
            <a:r>
              <a:rPr lang="en-IN" sz="2800" dirty="0"/>
              <a:t>Pretrained on ImageNet dataset (Deng et al., 2009).</a:t>
            </a:r>
          </a:p>
          <a:p>
            <a:pPr>
              <a:buFont typeface="Wingdings" panose="05000000000000000000" pitchFamily="2" charset="2"/>
              <a:buChar char="v"/>
            </a:pPr>
            <a:r>
              <a:rPr lang="en-IN" sz="2800" dirty="0"/>
              <a:t>Transfer Learning reduces learning time. </a:t>
            </a:r>
          </a:p>
          <a:p>
            <a:pPr>
              <a:buFont typeface="Wingdings" panose="05000000000000000000" pitchFamily="2" charset="2"/>
              <a:buChar char="v"/>
            </a:pPr>
            <a:r>
              <a:rPr lang="en-US" sz="2800" dirty="0"/>
              <a:t>Fully connected layers added for classification.</a:t>
            </a:r>
          </a:p>
          <a:p>
            <a:pPr>
              <a:buFont typeface="Wingdings" panose="05000000000000000000" pitchFamily="2" charset="2"/>
              <a:buChar char="v"/>
            </a:pPr>
            <a:r>
              <a:rPr lang="en-IN" sz="2800" dirty="0"/>
              <a:t>CNNs are effective for image analysis (Szegedy et al., 2016).</a:t>
            </a:r>
          </a:p>
        </p:txBody>
      </p:sp>
      <p:pic>
        <p:nvPicPr>
          <p:cNvPr id="8" name="Picture 7">
            <a:extLst>
              <a:ext uri="{FF2B5EF4-FFF2-40B4-BE49-F238E27FC236}">
                <a16:creationId xmlns:a16="http://schemas.microsoft.com/office/drawing/2014/main" id="{E7EC4373-5D27-BE37-1482-F2EC17A04589}"/>
              </a:ext>
            </a:extLst>
          </p:cNvPr>
          <p:cNvPicPr>
            <a:picLocks noChangeAspect="1"/>
          </p:cNvPicPr>
          <p:nvPr/>
        </p:nvPicPr>
        <p:blipFill>
          <a:blip r:embed="rId3">
            <a:extLst>
              <a:ext uri="{28A0092B-C50C-407E-A947-70E740481C1C}">
                <a14:useLocalDpi xmlns:a14="http://schemas.microsoft.com/office/drawing/2010/main" val="0"/>
              </a:ext>
            </a:extLst>
          </a:blip>
          <a:srcRect l="16874" r="15292" b="12114"/>
          <a:stretch>
            <a:fillRect/>
          </a:stretch>
        </p:blipFill>
        <p:spPr>
          <a:xfrm>
            <a:off x="7550870" y="1779309"/>
            <a:ext cx="3723587" cy="4958498"/>
          </a:xfrm>
          <a:prstGeom prst="rect">
            <a:avLst/>
          </a:prstGeom>
        </p:spPr>
      </p:pic>
    </p:spTree>
    <p:extLst>
      <p:ext uri="{BB962C8B-B14F-4D97-AF65-F5344CB8AC3E}">
        <p14:creationId xmlns:p14="http://schemas.microsoft.com/office/powerpoint/2010/main" val="4212722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4A562-7FAB-EDC1-7367-2CD08078E7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A7B013-5A49-C624-C6EE-F03ACA25D93B}"/>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WHY INCEPTIONV3</a:t>
            </a:r>
          </a:p>
        </p:txBody>
      </p:sp>
      <p:sp>
        <p:nvSpPr>
          <p:cNvPr id="5" name="Content Placeholder 4">
            <a:extLst>
              <a:ext uri="{FF2B5EF4-FFF2-40B4-BE49-F238E27FC236}">
                <a16:creationId xmlns:a16="http://schemas.microsoft.com/office/drawing/2014/main" id="{FF9214E9-2852-2AAE-C151-DF9071A58182}"/>
              </a:ext>
            </a:extLst>
          </p:cNvPr>
          <p:cNvSpPr>
            <a:spLocks noGrp="1"/>
          </p:cNvSpPr>
          <p:nvPr>
            <p:ph idx="1"/>
          </p:nvPr>
        </p:nvSpPr>
        <p:spPr>
          <a:xfrm>
            <a:off x="518474" y="1611984"/>
            <a:ext cx="6155703" cy="4958498"/>
          </a:xfrm>
        </p:spPr>
        <p:txBody>
          <a:bodyPr/>
          <a:lstStyle/>
          <a:p>
            <a:pPr>
              <a:buFont typeface="Wingdings" panose="05000000000000000000" pitchFamily="2" charset="2"/>
              <a:buChar char="v"/>
            </a:pPr>
            <a:r>
              <a:rPr lang="en-IN" sz="2800" dirty="0"/>
              <a:t>Captures multi-scale features efficiently.</a:t>
            </a:r>
          </a:p>
          <a:p>
            <a:pPr>
              <a:buFont typeface="Wingdings" panose="05000000000000000000" pitchFamily="2" charset="2"/>
              <a:buChar char="v"/>
            </a:pPr>
            <a:r>
              <a:rPr lang="en-US" sz="2800" dirty="0"/>
              <a:t>Reduces computational cost compared to deeper models.</a:t>
            </a:r>
          </a:p>
          <a:p>
            <a:pPr>
              <a:buFont typeface="Wingdings" panose="05000000000000000000" pitchFamily="2" charset="2"/>
              <a:buChar char="v"/>
            </a:pPr>
            <a:r>
              <a:rPr lang="en-US" sz="2800" dirty="0"/>
              <a:t>Performs well in image classification tasks (Szegedy et al., 2016).</a:t>
            </a:r>
          </a:p>
          <a:p>
            <a:pPr>
              <a:buFont typeface="Wingdings" panose="05000000000000000000" pitchFamily="2" charset="2"/>
              <a:buChar char="v"/>
            </a:pPr>
            <a:r>
              <a:rPr lang="en-US" sz="2800" dirty="0"/>
              <a:t>Suitable for medical imaging problems.</a:t>
            </a:r>
          </a:p>
          <a:p>
            <a:pPr>
              <a:buFont typeface="Wingdings" panose="05000000000000000000" pitchFamily="2" charset="2"/>
              <a:buChar char="v"/>
            </a:pPr>
            <a:r>
              <a:rPr lang="en-US" sz="2800" dirty="0"/>
              <a:t>Efficient architectures improve results (Tan and Le, 2019). </a:t>
            </a:r>
          </a:p>
          <a:p>
            <a:pPr marL="0" indent="0">
              <a:buNone/>
            </a:pPr>
            <a:endParaRPr lang="en-IN" dirty="0"/>
          </a:p>
        </p:txBody>
      </p:sp>
      <p:pic>
        <p:nvPicPr>
          <p:cNvPr id="3" name="Picture 2">
            <a:extLst>
              <a:ext uri="{FF2B5EF4-FFF2-40B4-BE49-F238E27FC236}">
                <a16:creationId xmlns:a16="http://schemas.microsoft.com/office/drawing/2014/main" id="{B69CC9CA-BE7B-E8B1-BA40-4494D0B0F2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3433" y="1611984"/>
            <a:ext cx="2509630" cy="4958498"/>
          </a:xfrm>
          <a:prstGeom prst="rect">
            <a:avLst/>
          </a:prstGeom>
        </p:spPr>
      </p:pic>
    </p:spTree>
    <p:extLst>
      <p:ext uri="{BB962C8B-B14F-4D97-AF65-F5344CB8AC3E}">
        <p14:creationId xmlns:p14="http://schemas.microsoft.com/office/powerpoint/2010/main" val="2481101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C3B02-A96D-D53A-F7F1-E881016672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00D3C7-2BA7-2793-D15E-AEF0720BD8BE}"/>
              </a:ext>
            </a:extLst>
          </p:cNvPr>
          <p:cNvSpPr>
            <a:spLocks noGrp="1"/>
          </p:cNvSpPr>
          <p:nvPr>
            <p:ph type="title"/>
          </p:nvPr>
        </p:nvSpPr>
        <p:spPr>
          <a:xfrm>
            <a:off x="2231136" y="395926"/>
            <a:ext cx="7729728" cy="1008668"/>
          </a:xfrm>
        </p:spPr>
        <p:txBody>
          <a:bodyPr>
            <a:normAutofit fontScale="90000"/>
          </a:bodyPr>
          <a:lstStyle/>
          <a:p>
            <a:r>
              <a:rPr lang="en-IN" b="1" dirty="0">
                <a:effectLst>
                  <a:outerShdw blurRad="38100" dist="38100" dir="2700000" algn="tl">
                    <a:srgbClr val="000000">
                      <a:alpha val="43137"/>
                    </a:srgbClr>
                  </a:outerShdw>
                </a:effectLst>
              </a:rPr>
              <a:t>EXPLAINABILITY USING GRAD-CAM</a:t>
            </a:r>
          </a:p>
        </p:txBody>
      </p:sp>
      <p:sp>
        <p:nvSpPr>
          <p:cNvPr id="5" name="Content Placeholder 4">
            <a:extLst>
              <a:ext uri="{FF2B5EF4-FFF2-40B4-BE49-F238E27FC236}">
                <a16:creationId xmlns:a16="http://schemas.microsoft.com/office/drawing/2014/main" id="{02310451-A80D-512B-181F-FDF28DF908C7}"/>
              </a:ext>
            </a:extLst>
          </p:cNvPr>
          <p:cNvSpPr>
            <a:spLocks noGrp="1"/>
          </p:cNvSpPr>
          <p:nvPr>
            <p:ph idx="1"/>
          </p:nvPr>
        </p:nvSpPr>
        <p:spPr>
          <a:xfrm>
            <a:off x="518474" y="1611984"/>
            <a:ext cx="6155703" cy="4958498"/>
          </a:xfrm>
        </p:spPr>
        <p:txBody>
          <a:bodyPr>
            <a:normAutofit/>
          </a:bodyPr>
          <a:lstStyle/>
          <a:p>
            <a:pPr>
              <a:buFont typeface="Wingdings" panose="05000000000000000000" pitchFamily="2" charset="2"/>
              <a:buChar char="v"/>
            </a:pPr>
            <a:r>
              <a:rPr lang="en-US" sz="2800" dirty="0"/>
              <a:t>Grad-CAM generates heatmaps highlighting important regions.</a:t>
            </a:r>
          </a:p>
          <a:p>
            <a:pPr>
              <a:buFont typeface="Wingdings" panose="05000000000000000000" pitchFamily="2" charset="2"/>
              <a:buChar char="v"/>
            </a:pPr>
            <a:r>
              <a:rPr lang="en-US" sz="2800" dirty="0"/>
              <a:t>Uses gradients from convolutional layers.</a:t>
            </a:r>
          </a:p>
          <a:p>
            <a:pPr>
              <a:buFont typeface="Wingdings" panose="05000000000000000000" pitchFamily="2" charset="2"/>
              <a:buChar char="v"/>
            </a:pPr>
            <a:r>
              <a:rPr lang="en-US" sz="2800" dirty="0"/>
              <a:t>Helps visualize model decision-making process.</a:t>
            </a:r>
          </a:p>
          <a:p>
            <a:pPr>
              <a:buFont typeface="Wingdings" panose="05000000000000000000" pitchFamily="2" charset="2"/>
              <a:buChar char="v"/>
            </a:pPr>
            <a:r>
              <a:rPr lang="en-US" sz="2800" dirty="0"/>
              <a:t>Improves trust in AI systems (Samek et al., 2017).</a:t>
            </a:r>
          </a:p>
          <a:p>
            <a:pPr>
              <a:buFont typeface="Wingdings" panose="05000000000000000000" pitchFamily="2" charset="2"/>
              <a:buChar char="v"/>
            </a:pPr>
            <a:r>
              <a:rPr lang="en-US" sz="2800" dirty="0"/>
              <a:t>Widely used in explainable AI (Selvaraju et al., 2017).</a:t>
            </a:r>
            <a:endParaRPr lang="en-IN" sz="2800" dirty="0"/>
          </a:p>
        </p:txBody>
      </p:sp>
      <p:pic>
        <p:nvPicPr>
          <p:cNvPr id="3" name="Picture 2">
            <a:extLst>
              <a:ext uri="{FF2B5EF4-FFF2-40B4-BE49-F238E27FC236}">
                <a16:creationId xmlns:a16="http://schemas.microsoft.com/office/drawing/2014/main" id="{6DE4D100-AFB6-4C1B-0B8B-0C409062FF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0500" y="1611984"/>
            <a:ext cx="3740727" cy="5057480"/>
          </a:xfrm>
          <a:prstGeom prst="rect">
            <a:avLst/>
          </a:prstGeom>
        </p:spPr>
      </p:pic>
    </p:spTree>
    <p:extLst>
      <p:ext uri="{BB962C8B-B14F-4D97-AF65-F5344CB8AC3E}">
        <p14:creationId xmlns:p14="http://schemas.microsoft.com/office/powerpoint/2010/main" val="673515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B6D50-6003-610F-8194-0C4F0CC83D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FB1542-82D6-CDEC-BF34-B2FD9493BD94}"/>
              </a:ext>
            </a:extLst>
          </p:cNvPr>
          <p:cNvSpPr>
            <a:spLocks noGrp="1"/>
          </p:cNvSpPr>
          <p:nvPr>
            <p:ph type="title"/>
          </p:nvPr>
        </p:nvSpPr>
        <p:spPr>
          <a:xfrm>
            <a:off x="2231136" y="395926"/>
            <a:ext cx="7729728" cy="1008668"/>
          </a:xfrm>
        </p:spPr>
        <p:txBody>
          <a:bodyPr>
            <a:normAutofit/>
          </a:bodyPr>
          <a:lstStyle/>
          <a:p>
            <a:r>
              <a:rPr lang="en-IN" b="1" dirty="0"/>
              <a:t>SYSTEM PIPELINE</a:t>
            </a:r>
            <a:endParaRPr lang="en-IN" b="1" dirty="0">
              <a:effectLst>
                <a:outerShdw blurRad="38100" dist="38100" dir="2700000" algn="tl">
                  <a:srgbClr val="000000">
                    <a:alpha val="43137"/>
                  </a:srgbClr>
                </a:outerShdw>
              </a:effectLst>
            </a:endParaRPr>
          </a:p>
        </p:txBody>
      </p:sp>
      <p:sp>
        <p:nvSpPr>
          <p:cNvPr id="5" name="Content Placeholder 4">
            <a:extLst>
              <a:ext uri="{FF2B5EF4-FFF2-40B4-BE49-F238E27FC236}">
                <a16:creationId xmlns:a16="http://schemas.microsoft.com/office/drawing/2014/main" id="{F269B285-5772-B782-04ED-89935ED43F35}"/>
              </a:ext>
            </a:extLst>
          </p:cNvPr>
          <p:cNvSpPr>
            <a:spLocks noGrp="1"/>
          </p:cNvSpPr>
          <p:nvPr>
            <p:ph idx="1"/>
          </p:nvPr>
        </p:nvSpPr>
        <p:spPr>
          <a:xfrm>
            <a:off x="518474" y="1480009"/>
            <a:ext cx="6155703" cy="5377992"/>
          </a:xfrm>
        </p:spPr>
        <p:txBody>
          <a:bodyPr>
            <a:noAutofit/>
          </a:bodyPr>
          <a:lstStyle/>
          <a:p>
            <a:pPr>
              <a:buFont typeface="Wingdings" panose="05000000000000000000" pitchFamily="2" charset="2"/>
              <a:buChar char="v"/>
            </a:pPr>
            <a:r>
              <a:rPr lang="en-US" sz="2800" dirty="0"/>
              <a:t>Input MRI image is provided to the system.</a:t>
            </a:r>
          </a:p>
          <a:p>
            <a:pPr>
              <a:buFont typeface="Wingdings" panose="05000000000000000000" pitchFamily="2" charset="2"/>
              <a:buChar char="v"/>
            </a:pPr>
            <a:r>
              <a:rPr lang="en-IN" sz="2800" dirty="0"/>
              <a:t>Preprocessing prepares the image.</a:t>
            </a:r>
          </a:p>
          <a:p>
            <a:pPr>
              <a:buFont typeface="Wingdings" panose="05000000000000000000" pitchFamily="2" charset="2"/>
              <a:buChar char="v"/>
            </a:pPr>
            <a:r>
              <a:rPr lang="en-US" sz="2800" dirty="0"/>
              <a:t>CNN extracts features and predicts tumor class.</a:t>
            </a:r>
          </a:p>
          <a:p>
            <a:pPr>
              <a:buFont typeface="Wingdings" panose="05000000000000000000" pitchFamily="2" charset="2"/>
              <a:buChar char="v"/>
            </a:pPr>
            <a:r>
              <a:rPr lang="en-IN" sz="2800" dirty="0"/>
              <a:t>Grad-CAM generates visual explanation.</a:t>
            </a:r>
          </a:p>
          <a:p>
            <a:pPr>
              <a:buFont typeface="Wingdings" panose="05000000000000000000" pitchFamily="2" charset="2"/>
              <a:buChar char="v"/>
            </a:pPr>
            <a:r>
              <a:rPr lang="en-US" sz="2800" dirty="0"/>
              <a:t>Produces both prediction and interpretation.</a:t>
            </a:r>
          </a:p>
          <a:p>
            <a:pPr>
              <a:buFont typeface="Wingdings" panose="05000000000000000000" pitchFamily="2" charset="2"/>
              <a:buChar char="v"/>
            </a:pPr>
            <a:r>
              <a:rPr lang="en-US" sz="2800" dirty="0"/>
              <a:t>Follows deep learning workflow (Goodfellow et al., 2016).</a:t>
            </a:r>
            <a:endParaRPr lang="en-IN" sz="2800" dirty="0"/>
          </a:p>
        </p:txBody>
      </p:sp>
      <p:pic>
        <p:nvPicPr>
          <p:cNvPr id="3" name="Picture 2">
            <a:extLst>
              <a:ext uri="{FF2B5EF4-FFF2-40B4-BE49-F238E27FC236}">
                <a16:creationId xmlns:a16="http://schemas.microsoft.com/office/drawing/2014/main" id="{D6D435BD-47E2-3B0A-3BE3-A081B17E3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930968"/>
            <a:ext cx="5850902" cy="2574286"/>
          </a:xfrm>
          <a:prstGeom prst="rect">
            <a:avLst/>
          </a:prstGeom>
        </p:spPr>
      </p:pic>
    </p:spTree>
    <p:extLst>
      <p:ext uri="{BB962C8B-B14F-4D97-AF65-F5344CB8AC3E}">
        <p14:creationId xmlns:p14="http://schemas.microsoft.com/office/powerpoint/2010/main" val="2945939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E779F-5981-9B64-8C24-B5B184C22C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32EE51-2118-3424-5150-B19C1D5FC794}"/>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LIVE DEMONSTRATION</a:t>
            </a:r>
          </a:p>
        </p:txBody>
      </p:sp>
      <p:sp>
        <p:nvSpPr>
          <p:cNvPr id="5" name="Content Placeholder 4">
            <a:extLst>
              <a:ext uri="{FF2B5EF4-FFF2-40B4-BE49-F238E27FC236}">
                <a16:creationId xmlns:a16="http://schemas.microsoft.com/office/drawing/2014/main" id="{CAA28653-E768-248F-91FC-C0259B07DF3C}"/>
              </a:ext>
            </a:extLst>
          </p:cNvPr>
          <p:cNvSpPr>
            <a:spLocks noGrp="1"/>
          </p:cNvSpPr>
          <p:nvPr>
            <p:ph idx="1"/>
          </p:nvPr>
        </p:nvSpPr>
        <p:spPr>
          <a:xfrm>
            <a:off x="518474" y="1611984"/>
            <a:ext cx="6155703" cy="4958498"/>
          </a:xfrm>
        </p:spPr>
        <p:txBody>
          <a:bodyPr>
            <a:normAutofit/>
          </a:bodyPr>
          <a:lstStyle/>
          <a:p>
            <a:pPr>
              <a:buFont typeface="Wingdings" panose="05000000000000000000" pitchFamily="2" charset="2"/>
              <a:buChar char="v"/>
            </a:pPr>
            <a:r>
              <a:rPr lang="en-IN" sz="3600" dirty="0"/>
              <a:t>Load trained InceptionV3 model.</a:t>
            </a:r>
          </a:p>
          <a:p>
            <a:pPr>
              <a:buFont typeface="Wingdings" panose="05000000000000000000" pitchFamily="2" charset="2"/>
              <a:buChar char="v"/>
            </a:pPr>
            <a:r>
              <a:rPr lang="en-US" sz="3600" dirty="0"/>
              <a:t>Input a new MRI scan image.</a:t>
            </a:r>
          </a:p>
          <a:p>
            <a:pPr>
              <a:buFont typeface="Wingdings" panose="05000000000000000000" pitchFamily="2" charset="2"/>
              <a:buChar char="v"/>
            </a:pPr>
            <a:r>
              <a:rPr lang="en-IN" sz="3600" dirty="0"/>
              <a:t>Model predicts tumor class.</a:t>
            </a:r>
          </a:p>
          <a:p>
            <a:pPr>
              <a:buFont typeface="Wingdings" panose="05000000000000000000" pitchFamily="2" charset="2"/>
              <a:buChar char="v"/>
            </a:pPr>
            <a:r>
              <a:rPr lang="en-IN" sz="3600" dirty="0"/>
              <a:t>Output includes prediction confidence.</a:t>
            </a:r>
          </a:p>
        </p:txBody>
      </p:sp>
    </p:spTree>
    <p:extLst>
      <p:ext uri="{BB962C8B-B14F-4D97-AF65-F5344CB8AC3E}">
        <p14:creationId xmlns:p14="http://schemas.microsoft.com/office/powerpoint/2010/main" val="1548733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C377F-75BD-5DEA-FBE9-683051A819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BC1FB7-24EC-A928-3601-95F655402D9C}"/>
              </a:ext>
            </a:extLst>
          </p:cNvPr>
          <p:cNvSpPr>
            <a:spLocks noGrp="1"/>
          </p:cNvSpPr>
          <p:nvPr>
            <p:ph type="title"/>
          </p:nvPr>
        </p:nvSpPr>
        <p:spPr>
          <a:xfrm>
            <a:off x="2231136" y="395926"/>
            <a:ext cx="7729728" cy="1008668"/>
          </a:xfrm>
        </p:spPr>
        <p:txBody>
          <a:bodyPr>
            <a:normAutofit fontScale="90000"/>
          </a:bodyPr>
          <a:lstStyle/>
          <a:p>
            <a:r>
              <a:rPr lang="en-IN" b="1" dirty="0">
                <a:effectLst>
                  <a:outerShdw blurRad="38100" dist="38100" dir="2700000" algn="tl">
                    <a:srgbClr val="000000">
                      <a:alpha val="43137"/>
                    </a:srgbClr>
                  </a:outerShdw>
                </a:effectLst>
              </a:rPr>
              <a:t>EVALUATION: OVERALL PERFORMANCE</a:t>
            </a:r>
          </a:p>
        </p:txBody>
      </p:sp>
      <p:sp>
        <p:nvSpPr>
          <p:cNvPr id="5" name="Content Placeholder 4">
            <a:extLst>
              <a:ext uri="{FF2B5EF4-FFF2-40B4-BE49-F238E27FC236}">
                <a16:creationId xmlns:a16="http://schemas.microsoft.com/office/drawing/2014/main" id="{DCEEBEE4-055A-362F-984C-F337B6615B13}"/>
              </a:ext>
            </a:extLst>
          </p:cNvPr>
          <p:cNvSpPr>
            <a:spLocks noGrp="1"/>
          </p:cNvSpPr>
          <p:nvPr>
            <p:ph idx="1"/>
          </p:nvPr>
        </p:nvSpPr>
        <p:spPr>
          <a:xfrm>
            <a:off x="47135" y="1611984"/>
            <a:ext cx="5715788" cy="4958498"/>
          </a:xfrm>
        </p:spPr>
        <p:txBody>
          <a:bodyPr>
            <a:normAutofit lnSpcReduction="10000"/>
          </a:bodyPr>
          <a:lstStyle/>
          <a:p>
            <a:pPr>
              <a:buFont typeface="Wingdings" panose="05000000000000000000" pitchFamily="2" charset="2"/>
              <a:buChar char="v"/>
            </a:pPr>
            <a:r>
              <a:rPr lang="en-US" sz="2800" dirty="0"/>
              <a:t>Test Accuracy achieved: </a:t>
            </a:r>
            <a:r>
              <a:rPr lang="en-US" sz="2800" b="1" dirty="0"/>
              <a:t>0.9737 (97.37%).</a:t>
            </a:r>
          </a:p>
          <a:p>
            <a:pPr>
              <a:buFont typeface="Wingdings" panose="05000000000000000000" pitchFamily="2" charset="2"/>
              <a:buChar char="v"/>
            </a:pPr>
            <a:r>
              <a:rPr lang="en-IN" sz="2800" dirty="0"/>
              <a:t>Macro Precision: </a:t>
            </a:r>
            <a:r>
              <a:rPr lang="en-IN" sz="2800" b="1" dirty="0"/>
              <a:t>0.9741.</a:t>
            </a:r>
          </a:p>
          <a:p>
            <a:pPr>
              <a:buFont typeface="Wingdings" panose="05000000000000000000" pitchFamily="2" charset="2"/>
              <a:buChar char="v"/>
            </a:pPr>
            <a:r>
              <a:rPr lang="en-IN" sz="2800" dirty="0"/>
              <a:t>Macro Recall: </a:t>
            </a:r>
            <a:r>
              <a:rPr lang="en-IN" sz="2800" b="1" dirty="0"/>
              <a:t>0.9738</a:t>
            </a:r>
          </a:p>
          <a:p>
            <a:pPr>
              <a:buFont typeface="Wingdings" panose="05000000000000000000" pitchFamily="2" charset="2"/>
              <a:buChar char="v"/>
            </a:pPr>
            <a:r>
              <a:rPr lang="en-IN" sz="2800" dirty="0"/>
              <a:t>Macro F1-score: </a:t>
            </a:r>
            <a:r>
              <a:rPr lang="en-IN" sz="2800" b="1" dirty="0"/>
              <a:t>0.9738</a:t>
            </a:r>
          </a:p>
          <a:p>
            <a:pPr>
              <a:buFont typeface="Wingdings" panose="05000000000000000000" pitchFamily="2" charset="2"/>
              <a:buChar char="v"/>
            </a:pPr>
            <a:r>
              <a:rPr lang="en-US" sz="2800" dirty="0"/>
              <a:t>Indicates strong and balanced model performance.</a:t>
            </a:r>
          </a:p>
          <a:p>
            <a:pPr>
              <a:buFont typeface="Wingdings" panose="05000000000000000000" pitchFamily="2" charset="2"/>
              <a:buChar char="v"/>
            </a:pPr>
            <a:r>
              <a:rPr lang="en-US" sz="2800" dirty="0"/>
              <a:t>Reliable evaluation metrics (Sokolova and Lapalme, 2009; Powers, 2011).</a:t>
            </a:r>
            <a:endParaRPr lang="en-IN" sz="2800" b="1" dirty="0"/>
          </a:p>
        </p:txBody>
      </p:sp>
      <p:pic>
        <p:nvPicPr>
          <p:cNvPr id="10" name="Picture 9">
            <a:extLst>
              <a:ext uri="{FF2B5EF4-FFF2-40B4-BE49-F238E27FC236}">
                <a16:creationId xmlns:a16="http://schemas.microsoft.com/office/drawing/2014/main" id="{6457CF2C-11E5-DBA0-E6EE-25F773A33FF8}"/>
              </a:ext>
            </a:extLst>
          </p:cNvPr>
          <p:cNvPicPr>
            <a:picLocks noChangeAspect="1"/>
          </p:cNvPicPr>
          <p:nvPr/>
        </p:nvPicPr>
        <p:blipFill>
          <a:blip r:embed="rId3"/>
          <a:srcRect b="67825"/>
          <a:stretch>
            <a:fillRect/>
          </a:stretch>
        </p:blipFill>
        <p:spPr>
          <a:xfrm>
            <a:off x="6096000" y="1681017"/>
            <a:ext cx="5923176" cy="1118743"/>
          </a:xfrm>
          <a:prstGeom prst="rect">
            <a:avLst/>
          </a:prstGeom>
        </p:spPr>
      </p:pic>
      <p:pic>
        <p:nvPicPr>
          <p:cNvPr id="12" name="Picture 11">
            <a:extLst>
              <a:ext uri="{FF2B5EF4-FFF2-40B4-BE49-F238E27FC236}">
                <a16:creationId xmlns:a16="http://schemas.microsoft.com/office/drawing/2014/main" id="{6A2986A2-7ADE-1909-425E-670413AC6B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1" y="2799761"/>
            <a:ext cx="6048866" cy="3839754"/>
          </a:xfrm>
          <a:prstGeom prst="rect">
            <a:avLst/>
          </a:prstGeom>
        </p:spPr>
      </p:pic>
    </p:spTree>
    <p:extLst>
      <p:ext uri="{BB962C8B-B14F-4D97-AF65-F5344CB8AC3E}">
        <p14:creationId xmlns:p14="http://schemas.microsoft.com/office/powerpoint/2010/main" val="3012299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1B1C3-8266-8624-BA20-5DB7CB05CB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C08FD9-3ED2-7619-2FDC-D226F9F96837}"/>
              </a:ext>
            </a:extLst>
          </p:cNvPr>
          <p:cNvSpPr>
            <a:spLocks noGrp="1"/>
          </p:cNvSpPr>
          <p:nvPr>
            <p:ph type="title"/>
          </p:nvPr>
        </p:nvSpPr>
        <p:spPr>
          <a:xfrm>
            <a:off x="2231136" y="395926"/>
            <a:ext cx="7729728" cy="1008668"/>
          </a:xfrm>
        </p:spPr>
        <p:txBody>
          <a:bodyPr>
            <a:normAutofit fontScale="90000"/>
          </a:bodyPr>
          <a:lstStyle/>
          <a:p>
            <a:r>
              <a:rPr lang="en-IN" b="1" dirty="0">
                <a:effectLst>
                  <a:outerShdw blurRad="38100" dist="38100" dir="2700000" algn="tl">
                    <a:srgbClr val="000000">
                      <a:alpha val="43137"/>
                    </a:srgbClr>
                  </a:outerShdw>
                </a:effectLst>
              </a:rPr>
              <a:t>EVALUATION: CLASS-WISE PERFORMANCE</a:t>
            </a:r>
          </a:p>
        </p:txBody>
      </p:sp>
      <p:sp>
        <p:nvSpPr>
          <p:cNvPr id="5" name="Content Placeholder 4">
            <a:extLst>
              <a:ext uri="{FF2B5EF4-FFF2-40B4-BE49-F238E27FC236}">
                <a16:creationId xmlns:a16="http://schemas.microsoft.com/office/drawing/2014/main" id="{BB93607C-5856-ACBE-B85D-608483A7B123}"/>
              </a:ext>
            </a:extLst>
          </p:cNvPr>
          <p:cNvSpPr>
            <a:spLocks noGrp="1"/>
          </p:cNvSpPr>
          <p:nvPr>
            <p:ph idx="1"/>
          </p:nvPr>
        </p:nvSpPr>
        <p:spPr>
          <a:xfrm>
            <a:off x="518474" y="1611984"/>
            <a:ext cx="6155703" cy="4958498"/>
          </a:xfrm>
        </p:spPr>
        <p:txBody>
          <a:bodyPr/>
          <a:lstStyle/>
          <a:p>
            <a:pPr>
              <a:buFont typeface="Wingdings" panose="05000000000000000000" pitchFamily="2" charset="2"/>
              <a:buChar char="v"/>
            </a:pPr>
            <a:r>
              <a:rPr lang="en-IN" sz="2800" dirty="0"/>
              <a:t>Glioma: F1-score ≈ 0.96.</a:t>
            </a:r>
          </a:p>
          <a:p>
            <a:pPr>
              <a:buFont typeface="Wingdings" panose="05000000000000000000" pitchFamily="2" charset="2"/>
              <a:buChar char="v"/>
            </a:pPr>
            <a:r>
              <a:rPr lang="en-IN" sz="2800" dirty="0"/>
              <a:t>Meningioma: F1-score ≈ 0.96.</a:t>
            </a:r>
          </a:p>
          <a:p>
            <a:pPr>
              <a:buFont typeface="Wingdings" panose="05000000000000000000" pitchFamily="2" charset="2"/>
              <a:buChar char="v"/>
            </a:pPr>
            <a:r>
              <a:rPr lang="en-IN" sz="2800" dirty="0"/>
              <a:t>No Tumour: F1-score ≈ 0.98.</a:t>
            </a:r>
          </a:p>
          <a:p>
            <a:pPr>
              <a:buFont typeface="Wingdings" panose="05000000000000000000" pitchFamily="2" charset="2"/>
              <a:buChar char="v"/>
            </a:pPr>
            <a:r>
              <a:rPr lang="en-IN" sz="2800" dirty="0"/>
              <a:t>Pituitary: F1-score ≈ 0.99.</a:t>
            </a:r>
          </a:p>
          <a:p>
            <a:pPr>
              <a:buFont typeface="Wingdings" panose="05000000000000000000" pitchFamily="2" charset="2"/>
              <a:buChar char="v"/>
            </a:pPr>
            <a:r>
              <a:rPr lang="en-US" sz="2800" dirty="0"/>
              <a:t>High performance across all classes</a:t>
            </a:r>
          </a:p>
          <a:p>
            <a:pPr>
              <a:buFont typeface="Wingdings" panose="05000000000000000000" pitchFamily="2" charset="2"/>
              <a:buChar char="v"/>
            </a:pPr>
            <a:r>
              <a:rPr lang="en-US" sz="2800" dirty="0"/>
              <a:t>Balanced dataset improves consistency (He and Garcia, 2009; Goodfellow et al., 2016) </a:t>
            </a:r>
          </a:p>
          <a:p>
            <a:pPr marL="0" indent="0">
              <a:buNone/>
            </a:pPr>
            <a:endParaRPr lang="en-US" dirty="0"/>
          </a:p>
          <a:p>
            <a:pPr>
              <a:buFont typeface="Wingdings" panose="05000000000000000000" pitchFamily="2" charset="2"/>
              <a:buChar char="v"/>
            </a:pPr>
            <a:endParaRPr lang="en-IN" dirty="0"/>
          </a:p>
        </p:txBody>
      </p:sp>
      <p:pic>
        <p:nvPicPr>
          <p:cNvPr id="7" name="Picture 6">
            <a:extLst>
              <a:ext uri="{FF2B5EF4-FFF2-40B4-BE49-F238E27FC236}">
                <a16:creationId xmlns:a16="http://schemas.microsoft.com/office/drawing/2014/main" id="{6BE3E7BB-B818-3E9A-CCFF-E7B0638ADE62}"/>
              </a:ext>
            </a:extLst>
          </p:cNvPr>
          <p:cNvPicPr>
            <a:picLocks noChangeAspect="1"/>
          </p:cNvPicPr>
          <p:nvPr/>
        </p:nvPicPr>
        <p:blipFill>
          <a:blip r:embed="rId3"/>
          <a:stretch>
            <a:fillRect/>
          </a:stretch>
        </p:blipFill>
        <p:spPr>
          <a:xfrm>
            <a:off x="6674177" y="1611984"/>
            <a:ext cx="5439534" cy="2514951"/>
          </a:xfrm>
          <a:prstGeom prst="rect">
            <a:avLst/>
          </a:prstGeom>
        </p:spPr>
      </p:pic>
      <p:pic>
        <p:nvPicPr>
          <p:cNvPr id="9" name="Picture 8">
            <a:extLst>
              <a:ext uri="{FF2B5EF4-FFF2-40B4-BE49-F238E27FC236}">
                <a16:creationId xmlns:a16="http://schemas.microsoft.com/office/drawing/2014/main" id="{15A23A55-4C38-8D01-BAD4-FCC848CD9CE9}"/>
              </a:ext>
            </a:extLst>
          </p:cNvPr>
          <p:cNvPicPr>
            <a:picLocks noChangeAspect="1"/>
          </p:cNvPicPr>
          <p:nvPr/>
        </p:nvPicPr>
        <p:blipFill>
          <a:blip r:embed="rId4"/>
          <a:stretch>
            <a:fillRect/>
          </a:stretch>
        </p:blipFill>
        <p:spPr>
          <a:xfrm>
            <a:off x="6752466" y="4334325"/>
            <a:ext cx="5439534" cy="1819529"/>
          </a:xfrm>
          <a:prstGeom prst="rect">
            <a:avLst/>
          </a:prstGeom>
        </p:spPr>
      </p:pic>
    </p:spTree>
    <p:extLst>
      <p:ext uri="{BB962C8B-B14F-4D97-AF65-F5344CB8AC3E}">
        <p14:creationId xmlns:p14="http://schemas.microsoft.com/office/powerpoint/2010/main" val="1647684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A2F46-308F-EE05-C8CD-260D258AD2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95F6F8-49A0-539C-5BA1-4C7B1B477316}"/>
              </a:ext>
            </a:extLst>
          </p:cNvPr>
          <p:cNvSpPr>
            <a:spLocks noGrp="1"/>
          </p:cNvSpPr>
          <p:nvPr>
            <p:ph type="title"/>
          </p:nvPr>
        </p:nvSpPr>
        <p:spPr>
          <a:xfrm>
            <a:off x="2231136" y="395926"/>
            <a:ext cx="8524848" cy="1008668"/>
          </a:xfrm>
        </p:spPr>
        <p:txBody>
          <a:bodyPr>
            <a:normAutofit fontScale="90000"/>
          </a:bodyPr>
          <a:lstStyle/>
          <a:p>
            <a:r>
              <a:rPr lang="en-IN" b="1" dirty="0">
                <a:effectLst>
                  <a:outerShdw blurRad="38100" dist="38100" dir="2700000" algn="tl">
                    <a:srgbClr val="000000">
                      <a:alpha val="43137"/>
                    </a:srgbClr>
                  </a:outerShdw>
                </a:effectLst>
              </a:rPr>
              <a:t>EVALUATION: ROC AND CONFUSION MATRIX</a:t>
            </a:r>
          </a:p>
        </p:txBody>
      </p:sp>
      <p:sp>
        <p:nvSpPr>
          <p:cNvPr id="5" name="Content Placeholder 4">
            <a:extLst>
              <a:ext uri="{FF2B5EF4-FFF2-40B4-BE49-F238E27FC236}">
                <a16:creationId xmlns:a16="http://schemas.microsoft.com/office/drawing/2014/main" id="{9922BD64-21C8-D7DE-B10A-06268F92D613}"/>
              </a:ext>
            </a:extLst>
          </p:cNvPr>
          <p:cNvSpPr>
            <a:spLocks noGrp="1"/>
          </p:cNvSpPr>
          <p:nvPr>
            <p:ph idx="1"/>
          </p:nvPr>
        </p:nvSpPr>
        <p:spPr>
          <a:xfrm>
            <a:off x="518474" y="1611984"/>
            <a:ext cx="6155703" cy="4958498"/>
          </a:xfrm>
        </p:spPr>
        <p:txBody>
          <a:bodyPr>
            <a:normAutofit/>
          </a:bodyPr>
          <a:lstStyle/>
          <a:p>
            <a:pPr>
              <a:buFont typeface="Wingdings" panose="05000000000000000000" pitchFamily="2" charset="2"/>
              <a:buChar char="v"/>
            </a:pPr>
            <a:r>
              <a:rPr lang="en-IN" sz="2800" dirty="0"/>
              <a:t>ROC AUC score ≈ </a:t>
            </a:r>
            <a:r>
              <a:rPr lang="en-IN" sz="2800" b="1" dirty="0"/>
              <a:t>0.9985</a:t>
            </a:r>
            <a:r>
              <a:rPr lang="en-IN" sz="2800" dirty="0"/>
              <a:t>, indicating excellent classification ability.</a:t>
            </a:r>
          </a:p>
          <a:p>
            <a:pPr>
              <a:buFont typeface="Wingdings" panose="05000000000000000000" pitchFamily="2" charset="2"/>
              <a:buChar char="v"/>
            </a:pPr>
            <a:r>
              <a:rPr lang="en-US" sz="2800" dirty="0"/>
              <a:t>Confusion matrix shows very few misclassifications.</a:t>
            </a:r>
          </a:p>
          <a:p>
            <a:pPr>
              <a:buFont typeface="Wingdings" panose="05000000000000000000" pitchFamily="2" charset="2"/>
              <a:buChar char="v"/>
            </a:pPr>
            <a:r>
              <a:rPr lang="en-US" sz="2800" dirty="0"/>
              <a:t>Model performs well across all tumor types.</a:t>
            </a:r>
          </a:p>
          <a:p>
            <a:pPr>
              <a:buFont typeface="Wingdings" panose="05000000000000000000" pitchFamily="2" charset="2"/>
              <a:buChar char="v"/>
            </a:pPr>
            <a:r>
              <a:rPr lang="en-US" sz="2800" dirty="0"/>
              <a:t>Low false positives and false negatives.</a:t>
            </a:r>
          </a:p>
          <a:p>
            <a:pPr>
              <a:buFont typeface="Wingdings" panose="05000000000000000000" pitchFamily="2" charset="2"/>
              <a:buChar char="v"/>
            </a:pPr>
            <a:r>
              <a:rPr lang="en-US" sz="2800" dirty="0"/>
              <a:t>Strong evaluation confirms robustness (Fawcett, 2006; Powers, 2011).</a:t>
            </a:r>
            <a:endParaRPr lang="en-IN" sz="2800" dirty="0"/>
          </a:p>
        </p:txBody>
      </p:sp>
      <p:pic>
        <p:nvPicPr>
          <p:cNvPr id="5122" name="Picture 2">
            <a:extLst>
              <a:ext uri="{FF2B5EF4-FFF2-40B4-BE49-F238E27FC236}">
                <a16:creationId xmlns:a16="http://schemas.microsoft.com/office/drawing/2014/main" id="{F8A5ABF1-C4EE-EF9F-D4BC-66D5C1D88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4106" y="1404594"/>
            <a:ext cx="3687894" cy="29246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962B4B2-7910-9A07-3782-4DCE8756A2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3560" y="4339651"/>
            <a:ext cx="5703003" cy="2518349"/>
          </a:xfrm>
          <a:prstGeom prst="rect">
            <a:avLst/>
          </a:prstGeom>
        </p:spPr>
      </p:pic>
    </p:spTree>
    <p:extLst>
      <p:ext uri="{BB962C8B-B14F-4D97-AF65-F5344CB8AC3E}">
        <p14:creationId xmlns:p14="http://schemas.microsoft.com/office/powerpoint/2010/main" val="828161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27983-CAB0-F73E-9D25-73CAF8B4FD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BB56C1-2DF6-72F1-1D7A-3B401A2483BD}"/>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GRAD-CAM RESULTS</a:t>
            </a:r>
          </a:p>
        </p:txBody>
      </p:sp>
      <p:sp>
        <p:nvSpPr>
          <p:cNvPr id="5" name="Content Placeholder 4">
            <a:extLst>
              <a:ext uri="{FF2B5EF4-FFF2-40B4-BE49-F238E27FC236}">
                <a16:creationId xmlns:a16="http://schemas.microsoft.com/office/drawing/2014/main" id="{A61110DE-758A-D379-B3BA-6421A58B3E7A}"/>
              </a:ext>
            </a:extLst>
          </p:cNvPr>
          <p:cNvSpPr>
            <a:spLocks noGrp="1"/>
          </p:cNvSpPr>
          <p:nvPr>
            <p:ph idx="1"/>
          </p:nvPr>
        </p:nvSpPr>
        <p:spPr>
          <a:xfrm>
            <a:off x="292233" y="1791093"/>
            <a:ext cx="5803767" cy="4826523"/>
          </a:xfrm>
        </p:spPr>
        <p:txBody>
          <a:bodyPr>
            <a:noAutofit/>
          </a:bodyPr>
          <a:lstStyle/>
          <a:p>
            <a:pPr>
              <a:buFont typeface="Wingdings" panose="05000000000000000000" pitchFamily="2" charset="2"/>
              <a:buChar char="v"/>
            </a:pPr>
            <a:r>
              <a:rPr lang="en-US" sz="2400" dirty="0"/>
              <a:t>Grad-CAM highlights important regions in MRI images (Selvaraju et al., 2017).</a:t>
            </a:r>
          </a:p>
          <a:p>
            <a:pPr>
              <a:buFont typeface="Wingdings" panose="05000000000000000000" pitchFamily="2" charset="2"/>
              <a:buChar char="v"/>
            </a:pPr>
            <a:r>
              <a:rPr lang="en-US" sz="2400" dirty="0"/>
              <a:t>High activation is observed in tumor regions for correct predictions.</a:t>
            </a:r>
          </a:p>
          <a:p>
            <a:pPr>
              <a:buFont typeface="Wingdings" panose="05000000000000000000" pitchFamily="2" charset="2"/>
              <a:buChar char="v"/>
            </a:pPr>
            <a:r>
              <a:rPr lang="en-US" sz="2400" dirty="0"/>
              <a:t>Minimal activation is seen in “no tumor” cases.</a:t>
            </a:r>
          </a:p>
          <a:p>
            <a:pPr>
              <a:buFont typeface="Wingdings" panose="05000000000000000000" pitchFamily="2" charset="2"/>
              <a:buChar char="v"/>
            </a:pPr>
            <a:r>
              <a:rPr lang="en-US" sz="2400" dirty="0"/>
              <a:t>Confirms the model focuses on relevant medical features.</a:t>
            </a:r>
          </a:p>
          <a:p>
            <a:pPr>
              <a:buFont typeface="Wingdings" panose="05000000000000000000" pitchFamily="2" charset="2"/>
              <a:buChar char="v"/>
            </a:pPr>
            <a:r>
              <a:rPr lang="en-US" sz="2400" dirty="0"/>
              <a:t>Improves transparency and trust in predictions (Samek et al., 2017) </a:t>
            </a:r>
          </a:p>
          <a:p>
            <a:pPr marL="0" indent="0">
              <a:buNone/>
            </a:pPr>
            <a:endParaRPr lang="en-US" sz="2800" dirty="0"/>
          </a:p>
        </p:txBody>
      </p:sp>
      <p:pic>
        <p:nvPicPr>
          <p:cNvPr id="3" name="Picture 2">
            <a:extLst>
              <a:ext uri="{FF2B5EF4-FFF2-40B4-BE49-F238E27FC236}">
                <a16:creationId xmlns:a16="http://schemas.microsoft.com/office/drawing/2014/main" id="{2A47D430-0BF0-951A-83A7-0F3F86E20266}"/>
              </a:ext>
            </a:extLst>
          </p:cNvPr>
          <p:cNvPicPr>
            <a:picLocks noChangeAspect="1"/>
          </p:cNvPicPr>
          <p:nvPr/>
        </p:nvPicPr>
        <p:blipFill>
          <a:blip r:embed="rId3">
            <a:extLst>
              <a:ext uri="{28A0092B-C50C-407E-A947-70E740481C1C}">
                <a14:useLocalDpi xmlns:a14="http://schemas.microsoft.com/office/drawing/2010/main" val="0"/>
              </a:ext>
            </a:extLst>
          </a:blip>
          <a:srcRect b="49494"/>
          <a:stretch>
            <a:fillRect/>
          </a:stretch>
        </p:blipFill>
        <p:spPr>
          <a:xfrm>
            <a:off x="6096000" y="2452611"/>
            <a:ext cx="5803767" cy="3561689"/>
          </a:xfrm>
          <a:prstGeom prst="rect">
            <a:avLst/>
          </a:prstGeom>
        </p:spPr>
      </p:pic>
    </p:spTree>
    <p:extLst>
      <p:ext uri="{BB962C8B-B14F-4D97-AF65-F5344CB8AC3E}">
        <p14:creationId xmlns:p14="http://schemas.microsoft.com/office/powerpoint/2010/main" val="3426969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7C065-1D63-322C-58DD-E755B0987C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A90259-5132-1CB3-50B5-557A5DD9F101}"/>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ETHICAL CONSIDERATIONS </a:t>
            </a:r>
          </a:p>
        </p:txBody>
      </p:sp>
      <p:sp>
        <p:nvSpPr>
          <p:cNvPr id="5" name="Content Placeholder 4">
            <a:extLst>
              <a:ext uri="{FF2B5EF4-FFF2-40B4-BE49-F238E27FC236}">
                <a16:creationId xmlns:a16="http://schemas.microsoft.com/office/drawing/2014/main" id="{B934646A-B05D-DC36-4913-01C68C30649B}"/>
              </a:ext>
            </a:extLst>
          </p:cNvPr>
          <p:cNvSpPr>
            <a:spLocks noGrp="1"/>
          </p:cNvSpPr>
          <p:nvPr>
            <p:ph idx="1"/>
          </p:nvPr>
        </p:nvSpPr>
        <p:spPr>
          <a:xfrm>
            <a:off x="2231136" y="2158737"/>
            <a:ext cx="8873639" cy="3572759"/>
          </a:xfrm>
        </p:spPr>
        <p:txBody>
          <a:bodyPr>
            <a:noAutofit/>
          </a:bodyPr>
          <a:lstStyle/>
          <a:p>
            <a:pPr>
              <a:buFont typeface="Wingdings" panose="05000000000000000000" pitchFamily="2" charset="2"/>
              <a:buChar char="v"/>
            </a:pPr>
            <a:r>
              <a:rPr lang="en-US" sz="2800" dirty="0"/>
              <a:t>Dataset bias may affect model predictions.</a:t>
            </a:r>
          </a:p>
          <a:p>
            <a:pPr>
              <a:buFont typeface="Wingdings" panose="05000000000000000000" pitchFamily="2" charset="2"/>
              <a:buChar char="v"/>
            </a:pPr>
            <a:r>
              <a:rPr lang="en-US" sz="2800" dirty="0"/>
              <a:t>Limited diversity may reduce generalization.</a:t>
            </a:r>
          </a:p>
          <a:p>
            <a:pPr>
              <a:buFont typeface="Wingdings" panose="05000000000000000000" pitchFamily="2" charset="2"/>
              <a:buChar char="v"/>
            </a:pPr>
            <a:r>
              <a:rPr lang="en-US" sz="2800" dirty="0"/>
              <a:t>Risk of incorrect predictions in medical use.</a:t>
            </a:r>
          </a:p>
          <a:p>
            <a:pPr>
              <a:buFont typeface="Wingdings" panose="05000000000000000000" pitchFamily="2" charset="2"/>
              <a:buChar char="v"/>
            </a:pPr>
            <a:r>
              <a:rPr lang="en-US" sz="2800" dirty="0"/>
              <a:t>System should assist clinicians, not replace them.</a:t>
            </a:r>
          </a:p>
          <a:p>
            <a:pPr>
              <a:buFont typeface="Wingdings" panose="05000000000000000000" pitchFamily="2" charset="2"/>
              <a:buChar char="v"/>
            </a:pPr>
            <a:r>
              <a:rPr lang="en-IN" sz="2800" dirty="0"/>
              <a:t>Ethical AI is essential in healthcare (Floridi et al., 2018; Mittelstadt et al., 2016).</a:t>
            </a:r>
          </a:p>
        </p:txBody>
      </p:sp>
    </p:spTree>
    <p:extLst>
      <p:ext uri="{BB962C8B-B14F-4D97-AF65-F5344CB8AC3E}">
        <p14:creationId xmlns:p14="http://schemas.microsoft.com/office/powerpoint/2010/main" val="2299089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A4234-FA17-E68F-8B31-C846881DB7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9D9714-F423-5748-E57E-4E90388E3A53}"/>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IMPACT </a:t>
            </a:r>
          </a:p>
        </p:txBody>
      </p:sp>
      <p:sp>
        <p:nvSpPr>
          <p:cNvPr id="5" name="Content Placeholder 4">
            <a:extLst>
              <a:ext uri="{FF2B5EF4-FFF2-40B4-BE49-F238E27FC236}">
                <a16:creationId xmlns:a16="http://schemas.microsoft.com/office/drawing/2014/main" id="{484F7AA8-3DED-179E-AA6B-5C1C97D781EA}"/>
              </a:ext>
            </a:extLst>
          </p:cNvPr>
          <p:cNvSpPr>
            <a:spLocks noGrp="1"/>
          </p:cNvSpPr>
          <p:nvPr>
            <p:ph idx="1"/>
          </p:nvPr>
        </p:nvSpPr>
        <p:spPr>
          <a:xfrm>
            <a:off x="1904214" y="2630078"/>
            <a:ext cx="8056649" cy="3940404"/>
          </a:xfrm>
        </p:spPr>
        <p:txBody>
          <a:bodyPr>
            <a:normAutofit/>
          </a:bodyPr>
          <a:lstStyle/>
          <a:p>
            <a:pPr>
              <a:buFont typeface="Wingdings" panose="05000000000000000000" pitchFamily="2" charset="2"/>
              <a:buChar char="v"/>
            </a:pPr>
            <a:r>
              <a:rPr lang="en-IN" sz="2800" dirty="0"/>
              <a:t>Supports radiologists in faster diagnosis.</a:t>
            </a:r>
          </a:p>
          <a:p>
            <a:pPr>
              <a:buFont typeface="Wingdings" panose="05000000000000000000" pitchFamily="2" charset="2"/>
              <a:buChar char="v"/>
            </a:pPr>
            <a:r>
              <a:rPr lang="en-US" sz="2800" dirty="0"/>
              <a:t>Reduces workload and improves efficiency.</a:t>
            </a:r>
          </a:p>
          <a:p>
            <a:pPr>
              <a:buFont typeface="Wingdings" panose="05000000000000000000" pitchFamily="2" charset="2"/>
              <a:buChar char="v"/>
            </a:pPr>
            <a:r>
              <a:rPr lang="en-US" sz="2800" dirty="0"/>
              <a:t>Provides visual explanations for trust.</a:t>
            </a:r>
          </a:p>
          <a:p>
            <a:pPr>
              <a:buFont typeface="Wingdings" panose="05000000000000000000" pitchFamily="2" charset="2"/>
              <a:buChar char="v"/>
            </a:pPr>
            <a:r>
              <a:rPr lang="en-US" sz="2800" dirty="0"/>
              <a:t>Useful in low-resource healthcare environments.</a:t>
            </a:r>
          </a:p>
          <a:p>
            <a:pPr>
              <a:buFont typeface="Wingdings" panose="05000000000000000000" pitchFamily="2" charset="2"/>
              <a:buChar char="v"/>
            </a:pPr>
            <a:r>
              <a:rPr lang="en-IN" sz="2800" dirty="0"/>
              <a:t>Enhances decision-making (Litjens et al., 2017; Topol, 2019)</a:t>
            </a:r>
          </a:p>
        </p:txBody>
      </p:sp>
    </p:spTree>
    <p:extLst>
      <p:ext uri="{BB962C8B-B14F-4D97-AF65-F5344CB8AC3E}">
        <p14:creationId xmlns:p14="http://schemas.microsoft.com/office/powerpoint/2010/main" val="3487105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8AC48-3F56-3626-E346-03B0D8E452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711DC4-8078-FE3A-ADE0-B3BBBFF9B3A8}"/>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CONCLUSION  </a:t>
            </a:r>
          </a:p>
        </p:txBody>
      </p:sp>
      <p:sp>
        <p:nvSpPr>
          <p:cNvPr id="5" name="Content Placeholder 4">
            <a:extLst>
              <a:ext uri="{FF2B5EF4-FFF2-40B4-BE49-F238E27FC236}">
                <a16:creationId xmlns:a16="http://schemas.microsoft.com/office/drawing/2014/main" id="{4DE55B62-EBC1-DABA-A2B9-4D86EBC9C881}"/>
              </a:ext>
            </a:extLst>
          </p:cNvPr>
          <p:cNvSpPr>
            <a:spLocks noGrp="1"/>
          </p:cNvSpPr>
          <p:nvPr>
            <p:ph idx="1"/>
          </p:nvPr>
        </p:nvSpPr>
        <p:spPr>
          <a:xfrm>
            <a:off x="424207" y="1809946"/>
            <a:ext cx="5458119" cy="4760536"/>
          </a:xfrm>
        </p:spPr>
        <p:txBody>
          <a:bodyPr>
            <a:normAutofit fontScale="85000" lnSpcReduction="20000"/>
          </a:bodyPr>
          <a:lstStyle/>
          <a:p>
            <a:pPr>
              <a:buFont typeface="Wingdings" panose="05000000000000000000" pitchFamily="2" charset="2"/>
              <a:buChar char="v"/>
            </a:pPr>
            <a:r>
              <a:rPr lang="en-US" sz="2800" dirty="0"/>
              <a:t>An explainable deep learning model was developed for brain tumor classification.</a:t>
            </a:r>
          </a:p>
          <a:p>
            <a:pPr>
              <a:buFont typeface="Wingdings" panose="05000000000000000000" pitchFamily="2" charset="2"/>
              <a:buChar char="v"/>
            </a:pPr>
            <a:r>
              <a:rPr lang="en-US" sz="2800" dirty="0"/>
              <a:t>InceptionV3 achieved high performance in MRI image classification (Szegedy et al., 2016).</a:t>
            </a:r>
          </a:p>
          <a:p>
            <a:pPr>
              <a:buFont typeface="Wingdings" panose="05000000000000000000" pitchFamily="2" charset="2"/>
              <a:buChar char="v"/>
            </a:pPr>
            <a:r>
              <a:rPr lang="en-US" sz="2800" dirty="0"/>
              <a:t>Grad-CAM provided clear visual explanations of model predictions (Selvaraju et al., 2017).</a:t>
            </a:r>
          </a:p>
          <a:p>
            <a:pPr>
              <a:buFont typeface="Wingdings" panose="05000000000000000000" pitchFamily="2" charset="2"/>
              <a:buChar char="v"/>
            </a:pPr>
            <a:r>
              <a:rPr lang="en-US" sz="2800" dirty="0"/>
              <a:t>The system combines accuracy with interpretability for medical use.</a:t>
            </a:r>
          </a:p>
          <a:p>
            <a:pPr>
              <a:buFont typeface="Wingdings" panose="05000000000000000000" pitchFamily="2" charset="2"/>
              <a:buChar char="v"/>
            </a:pPr>
            <a:r>
              <a:rPr lang="en-US" sz="2800" dirty="0"/>
              <a:t>Supports clinicians in making reliable and informed decisions (Litjens et al., 2017).</a:t>
            </a:r>
            <a:endParaRPr lang="en-IN" sz="2800" dirty="0"/>
          </a:p>
        </p:txBody>
      </p:sp>
      <p:pic>
        <p:nvPicPr>
          <p:cNvPr id="3" name="Picture 2">
            <a:extLst>
              <a:ext uri="{FF2B5EF4-FFF2-40B4-BE49-F238E27FC236}">
                <a16:creationId xmlns:a16="http://schemas.microsoft.com/office/drawing/2014/main" id="{ECDADA2E-A741-C10B-F89C-9100B6E18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9689" y="1743957"/>
            <a:ext cx="3694183" cy="2526385"/>
          </a:xfrm>
          <a:prstGeom prst="rect">
            <a:avLst/>
          </a:prstGeom>
        </p:spPr>
      </p:pic>
      <p:pic>
        <p:nvPicPr>
          <p:cNvPr id="7" name="Picture 6">
            <a:extLst>
              <a:ext uri="{FF2B5EF4-FFF2-40B4-BE49-F238E27FC236}">
                <a16:creationId xmlns:a16="http://schemas.microsoft.com/office/drawing/2014/main" id="{02445F88-AB02-3299-6BEB-DFE2B6DB9B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29689" y="4336330"/>
            <a:ext cx="3694183" cy="2408831"/>
          </a:xfrm>
          <a:prstGeom prst="rect">
            <a:avLst/>
          </a:prstGeom>
        </p:spPr>
      </p:pic>
    </p:spTree>
    <p:extLst>
      <p:ext uri="{BB962C8B-B14F-4D97-AF65-F5344CB8AC3E}">
        <p14:creationId xmlns:p14="http://schemas.microsoft.com/office/powerpoint/2010/main" val="2055780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E65AC-3784-33CD-0B08-450B43B223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8640F5-E3E0-6EE4-79EE-7B494D690634}"/>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FUTURE WORK </a:t>
            </a:r>
          </a:p>
        </p:txBody>
      </p:sp>
      <p:sp>
        <p:nvSpPr>
          <p:cNvPr id="5" name="Content Placeholder 4">
            <a:extLst>
              <a:ext uri="{FF2B5EF4-FFF2-40B4-BE49-F238E27FC236}">
                <a16:creationId xmlns:a16="http://schemas.microsoft.com/office/drawing/2014/main" id="{9B3057FC-9645-893A-E98F-6DB517E99460}"/>
              </a:ext>
            </a:extLst>
          </p:cNvPr>
          <p:cNvSpPr>
            <a:spLocks noGrp="1"/>
          </p:cNvSpPr>
          <p:nvPr>
            <p:ph idx="1"/>
          </p:nvPr>
        </p:nvSpPr>
        <p:spPr>
          <a:xfrm>
            <a:off x="1904214" y="2620652"/>
            <a:ext cx="8823489" cy="3242820"/>
          </a:xfrm>
        </p:spPr>
        <p:txBody>
          <a:bodyPr/>
          <a:lstStyle/>
          <a:p>
            <a:pPr>
              <a:buFont typeface="Wingdings" panose="05000000000000000000" pitchFamily="2" charset="2"/>
              <a:buChar char="v"/>
            </a:pPr>
            <a:r>
              <a:rPr lang="en-IN" sz="2800" dirty="0"/>
              <a:t>Use real-world hospital datasets.</a:t>
            </a:r>
          </a:p>
          <a:p>
            <a:pPr>
              <a:buFont typeface="Wingdings" panose="05000000000000000000" pitchFamily="2" charset="2"/>
              <a:buChar char="v"/>
            </a:pPr>
            <a:r>
              <a:rPr lang="en-US" sz="2800" dirty="0"/>
              <a:t>Extend to 3D MRI analysis.</a:t>
            </a:r>
          </a:p>
          <a:p>
            <a:pPr>
              <a:buFont typeface="Wingdings" panose="05000000000000000000" pitchFamily="2" charset="2"/>
              <a:buChar char="v"/>
            </a:pPr>
            <a:r>
              <a:rPr lang="en-US" sz="2800" dirty="0"/>
              <a:t>Improve model robustness and generalization.</a:t>
            </a:r>
          </a:p>
          <a:p>
            <a:pPr>
              <a:buFont typeface="Wingdings" panose="05000000000000000000" pitchFamily="2" charset="2"/>
              <a:buChar char="v"/>
            </a:pPr>
            <a:r>
              <a:rPr lang="en-US" sz="2800" dirty="0"/>
              <a:t>Deploy as web or clinical application.</a:t>
            </a:r>
          </a:p>
          <a:p>
            <a:pPr>
              <a:buFont typeface="Wingdings" panose="05000000000000000000" pitchFamily="2" charset="2"/>
              <a:buChar char="v"/>
            </a:pPr>
            <a:r>
              <a:rPr lang="en-IN" sz="2800" dirty="0"/>
              <a:t>Future AI in healthcare is promising (Esteva et al., 2017; Topol, 2019) </a:t>
            </a:r>
          </a:p>
          <a:p>
            <a:pPr marL="0" indent="0">
              <a:buNone/>
            </a:pPr>
            <a:endParaRPr lang="en-IN" dirty="0"/>
          </a:p>
        </p:txBody>
      </p:sp>
    </p:spTree>
    <p:extLst>
      <p:ext uri="{BB962C8B-B14F-4D97-AF65-F5344CB8AC3E}">
        <p14:creationId xmlns:p14="http://schemas.microsoft.com/office/powerpoint/2010/main" val="160312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8D45D-907E-B13F-D020-0B011DF931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20B2C5-8A94-4353-7876-3281D62BF3AA}"/>
              </a:ext>
            </a:extLst>
          </p:cNvPr>
          <p:cNvSpPr>
            <a:spLocks noGrp="1"/>
          </p:cNvSpPr>
          <p:nvPr>
            <p:ph type="title"/>
          </p:nvPr>
        </p:nvSpPr>
        <p:spPr>
          <a:xfrm>
            <a:off x="2231136" y="395926"/>
            <a:ext cx="7729728" cy="1008668"/>
          </a:xfrm>
        </p:spPr>
        <p:txBody>
          <a:bodyPr/>
          <a:lstStyle/>
          <a:p>
            <a:r>
              <a:rPr lang="en-IN" b="1" dirty="0">
                <a:effectLst>
                  <a:outerShdw blurRad="38100" dist="38100" dir="2700000" algn="tl">
                    <a:srgbClr val="000000">
                      <a:alpha val="43137"/>
                    </a:srgbClr>
                  </a:outerShdw>
                </a:effectLst>
              </a:rPr>
              <a:t>REFERNECES </a:t>
            </a:r>
          </a:p>
        </p:txBody>
      </p:sp>
      <p:sp>
        <p:nvSpPr>
          <p:cNvPr id="5" name="Content Placeholder 4">
            <a:extLst>
              <a:ext uri="{FF2B5EF4-FFF2-40B4-BE49-F238E27FC236}">
                <a16:creationId xmlns:a16="http://schemas.microsoft.com/office/drawing/2014/main" id="{69572A5E-33D4-906A-0DAF-F36582FBD19B}"/>
              </a:ext>
            </a:extLst>
          </p:cNvPr>
          <p:cNvSpPr>
            <a:spLocks noGrp="1"/>
          </p:cNvSpPr>
          <p:nvPr>
            <p:ph idx="1"/>
          </p:nvPr>
        </p:nvSpPr>
        <p:spPr>
          <a:xfrm>
            <a:off x="292232" y="1772239"/>
            <a:ext cx="11434712" cy="4873658"/>
          </a:xfrm>
        </p:spPr>
        <p:txBody>
          <a:bodyPr/>
          <a:lstStyle/>
          <a:p>
            <a:pPr>
              <a:buFont typeface="Wingdings" panose="05000000000000000000" pitchFamily="2" charset="2"/>
              <a:buChar char="v"/>
            </a:pPr>
            <a:endParaRPr lang="en-IN" dirty="0"/>
          </a:p>
        </p:txBody>
      </p:sp>
    </p:spTree>
    <p:extLst>
      <p:ext uri="{BB962C8B-B14F-4D97-AF65-F5344CB8AC3E}">
        <p14:creationId xmlns:p14="http://schemas.microsoft.com/office/powerpoint/2010/main" val="471113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con Thank You Stock Illustrations – 12 ...">
            <a:extLst>
              <a:ext uri="{FF2B5EF4-FFF2-40B4-BE49-F238E27FC236}">
                <a16:creationId xmlns:a16="http://schemas.microsoft.com/office/drawing/2014/main" id="{10A9AD0B-14DA-8918-DC62-2BC503041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20" y="311821"/>
            <a:ext cx="3572807" cy="245965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B63D5A0-B1A9-700A-2F24-5D8C83FF0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541" y="4821811"/>
            <a:ext cx="3683768" cy="1775601"/>
          </a:xfrm>
          <a:prstGeom prst="rect">
            <a:avLst/>
          </a:prstGeom>
        </p:spPr>
      </p:pic>
    </p:spTree>
    <p:extLst>
      <p:ext uri="{BB962C8B-B14F-4D97-AF65-F5344CB8AC3E}">
        <p14:creationId xmlns:p14="http://schemas.microsoft.com/office/powerpoint/2010/main" val="1697566830"/>
      </p:ext>
    </p:extLst>
  </p:cSld>
  <p:clrMapOvr>
    <a:masterClrMapping/>
  </p:clrMapOvr>
</p:sld>
</file>

<file path=ppt/theme/theme1.xml><?xml version="1.0" encoding="utf-8"?>
<a:theme xmlns:a="http://schemas.openxmlformats.org/drawingml/2006/main" name="Parcel">
  <a:themeElements>
    <a:clrScheme name="Parcel">
      <a:dk1>
        <a:srgbClr val="000000"/>
      </a:dk1>
      <a:lt1>
        <a:sysClr val="window" lastClr="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97</TotalTime>
  <Words>2518</Words>
  <Application>Microsoft Office PowerPoint</Application>
  <PresentationFormat>Widescreen</PresentationFormat>
  <Paragraphs>153</Paragraphs>
  <Slides>22</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Gill Sans MT</vt:lpstr>
      <vt:lpstr>Times New Roman</vt:lpstr>
      <vt:lpstr>Wingdings</vt:lpstr>
      <vt:lpstr>Parcel</vt:lpstr>
      <vt:lpstr>Explainable deep learning for brain tumor classification in MRI images using Grad-CAM </vt:lpstr>
      <vt:lpstr>Group Github Link[Week 1-12] :  https://github.com/35056525/Group10-DataScience-Brain </vt:lpstr>
      <vt:lpstr>PROBLEM AND SIGNIFICANCE</vt:lpstr>
      <vt:lpstr>GAP AND OBJECTIVE</vt:lpstr>
      <vt:lpstr>PROPOSED SOLUTION</vt:lpstr>
      <vt:lpstr>DATASET</vt:lpstr>
      <vt:lpstr>DATA PREPROCESSING</vt:lpstr>
      <vt:lpstr>MODEL ARCHITECTURE</vt:lpstr>
      <vt:lpstr>WHY INCEPTIONV3</vt:lpstr>
      <vt:lpstr>EXPLAINABILITY USING GRAD-CAM</vt:lpstr>
      <vt:lpstr>SYSTEM PIPELINE</vt:lpstr>
      <vt:lpstr>LIVE DEMONSTRATION</vt:lpstr>
      <vt:lpstr>EVALUATION: OVERALL PERFORMANCE</vt:lpstr>
      <vt:lpstr>EVALUATION: CLASS-WISE PERFORMANCE</vt:lpstr>
      <vt:lpstr>EVALUATION: ROC AND CONFUSION MATRIX</vt:lpstr>
      <vt:lpstr>GRAD-CAM RESULTS</vt:lpstr>
      <vt:lpstr>ETHICAL CONSIDERATIONS </vt:lpstr>
      <vt:lpstr>IMPACT </vt:lpstr>
      <vt:lpstr>CONCLUSION  </vt:lpstr>
      <vt:lpstr>FUTURE WORK </vt:lpstr>
      <vt:lpstr>REFERNECES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VijayaGayathri; Balu Krishna; Suresh; Mounika; Shaida</dc:creator>
  <cp:revision>2</cp:revision>
  <dcterms:created xsi:type="dcterms:W3CDTF">2026-04-21T16:59:12Z</dcterms:created>
  <dcterms:modified xsi:type="dcterms:W3CDTF">2026-04-21T19:28:04Z</dcterms:modified>
</cp:coreProperties>
</file>